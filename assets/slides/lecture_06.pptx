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1A5E40-6122-4832-A95F-18962D6C9C45}">
  <a:tblStyle styleId="{271A5E40-6122-4832-A95F-18962D6C9C4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45a19567c553cfd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45a19567c553cfd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55d3e81cbeedb1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55d3e81cbeedb1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5e9b2a88a8211a12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h5e9b2a88a8211a12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5e9b2a88a8211a12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5e9b2a88a8211a12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5e9b2a88a8211a12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5e9b2a88a8211a12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5e9b2a88a8211a12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5e9b2a88a8211a12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5e9b2a88a8211a12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5e9b2a88a8211a12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5e9b2a88a8211a12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h5e9b2a88a8211a12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5e9b2a88a8211a12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5e9b2a88a8211a12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5e9b2a88a8211a12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5e9b2a88a8211a12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5e9b2a88a8211a1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5e9b2a88a8211a1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5e9b2a88a8211a12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5e9b2a88a8211a12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5e9b2a88a8211a12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5e9b2a88a8211a12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5e9b2a88a8211a12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5e9b2a88a8211a12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5e9b2a88a8211a12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5e9b2a88a8211a12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5e9b2a88a8211a12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h5e9b2a88a8211a12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5e9b2a88a8211a12_1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5e9b2a88a8211a12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5e9b2a88a8211a12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5e9b2a88a8211a12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5e9b2a88a8211a12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5e9b2a88a8211a12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5e9b2a88a8211a12_1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5e9b2a88a8211a12_1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5e9b2a88a8211a12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h5e9b2a88a8211a12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5e9b2a88a8211a12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h5e9b2a88a8211a12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5e9b2a88a8211a12_1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h5e9b2a88a8211a12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5e9b2a88a8211a12_1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5e9b2a88a8211a12_1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5e9b2a88a8211a12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5e9b2a88a8211a12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5e9b2a88a8211a12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h5e9b2a88a8211a12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55d3e81cbeedb1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h55d3e81cbeedb1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55d3e81cbeedb1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h55d3e81cbeedb1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55d3e81cbeedb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55d3e81cbeedb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55d3e81cbeedb1c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55d3e81cbeedb1c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55d3e81cbeedb1c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h55d3e81cbeedb1c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55d3e81cbeedb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h55d3e81cbeedb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55d3e81cbeedb1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h55d3e81cbeedb1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5e9b2a88a8211a12_1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5e9b2a88a8211a12_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57b857dcce3098e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h57b857dcce3098e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57b857dcce3098e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57b857dcce3098e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57b857dcce3098e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h57b857dcce3098e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57b857dcce3098e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h57b857dcce3098e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57b857dcce3098e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h57b857dcce3098e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57b857dcce3098e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h57b857dcce3098e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57b857dcce3098e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h57b857dcce3098e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57b857dcce3098e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h57b857dcce3098e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57b857dcce3098e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57b857dcce3098e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8947f1fe4094a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h8947f1fe4094a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8947f1fe4094a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h8947f1fe4094a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8947f1fe4094a6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h8947f1fe4094a6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8947f1fe4094a6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h8947f1fe4094a6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h8947f1fe4094a6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h8947f1fe4094a6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8947f1fe4094a6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h8947f1fe4094a6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8947f1fe4094a6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h8947f1fe4094a6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55d3e81cbeedb1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h55d3e81cbeedb1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55d3e81cbeedb1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h55d3e81cbeedb1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55d3e81cbeedb1c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h55d3e81cbeedb1c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55d3e81cbeedb1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55d3e81cbeedb1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55d3e81cbeedb1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h55d3e81cbeedb1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55d3e81cbeedb1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h55d3e81cbeedb1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55d3e81cbeedb1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h55d3e81cbeedb1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h55d3e81cbeedb1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h55d3e81cbeedb1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h55d3e81cbeedb1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h55d3e81cbeedb1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55d3e81cbeedb1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h55d3e81cbeedb1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55d3e81cbeedb1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h55d3e81cbeedb1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h55d3e81cbeedb1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h55d3e81cbeedb1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55d3e81cbeedb1c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55d3e81cbeedb1c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55d3e81cbeedb1c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h55d3e81cbeedb1c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55d3e81cbeedb1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h55d3e81cbeedb1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h55d3e81cbeedb1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h55d3e81cbeedb1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240d5cf130d40052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h240d5cf130d40052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55d3e81cbeedb1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h55d3e81cbeedb1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h55d3e81cbeedb1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h55d3e81cbeedb1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h55d3e81cbeedb1c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h55d3e81cbeedb1c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1pPr>
            <a:lvl2pPr lvl="1">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2pPr>
            <a:lvl3pPr lvl="2">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3pPr>
            <a:lvl4pPr lvl="3">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4pPr>
            <a:lvl5pPr lvl="4">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5pPr>
            <a:lvl6pPr lvl="5">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6pPr>
            <a:lvl7pPr lvl="6">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7pPr>
            <a:lvl8pPr lvl="7">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8pPr>
            <a:lvl9pPr lvl="8">
              <a:spcBef>
                <a:spcPts val="0"/>
              </a:spcBef>
              <a:spcAft>
                <a:spcPts val="0"/>
              </a:spcAft>
              <a:buClr>
                <a:schemeClr val="dk1"/>
              </a:buClr>
              <a:buSzPts val="2800"/>
              <a:buFont typeface="Palatino"/>
              <a:buNone/>
              <a:defRPr sz="2800">
                <a:solidFill>
                  <a:schemeClr val="dk1"/>
                </a:solidFill>
                <a:latin typeface="Palatino"/>
                <a:ea typeface="Palatino"/>
                <a:cs typeface="Palatino"/>
                <a:sym typeface="Palati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Palatino"/>
              <a:buChar char="●"/>
              <a:defRPr sz="1800">
                <a:solidFill>
                  <a:schemeClr val="dk1"/>
                </a:solidFill>
                <a:latin typeface="Palatino"/>
                <a:ea typeface="Palatino"/>
                <a:cs typeface="Palatino"/>
                <a:sym typeface="Palatino"/>
              </a:defRPr>
            </a:lvl1pPr>
            <a:lvl2pPr indent="-317500" lvl="1" marL="9144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2pPr>
            <a:lvl3pPr indent="-317500" lvl="2" marL="13716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3pPr>
            <a:lvl4pPr indent="-317500" lvl="3" marL="18288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4pPr>
            <a:lvl5pPr indent="-317500" lvl="4" marL="22860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5pPr>
            <a:lvl6pPr indent="-317500" lvl="5" marL="27432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6pPr>
            <a:lvl7pPr indent="-317500" lvl="6" marL="32004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7pPr>
            <a:lvl8pPr indent="-317500" lvl="7" marL="36576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8pPr>
            <a:lvl9pPr indent="-317500" lvl="8" marL="4114800">
              <a:lnSpc>
                <a:spcPct val="115000"/>
              </a:lnSpc>
              <a:spcBef>
                <a:spcPts val="0"/>
              </a:spcBef>
              <a:spcAft>
                <a:spcPts val="0"/>
              </a:spcAft>
              <a:buClr>
                <a:schemeClr val="dk1"/>
              </a:buClr>
              <a:buSzPts val="1400"/>
              <a:buFont typeface="Palatino"/>
              <a:buChar char="■"/>
              <a:defRPr>
                <a:solidFill>
                  <a:schemeClr val="dk1"/>
                </a:solidFill>
                <a:latin typeface="Palatino"/>
                <a:ea typeface="Palatino"/>
                <a:cs typeface="Palatino"/>
                <a:sym typeface="Palatin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entralflows.github.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arxiv.org/abs/1807.0503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48.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5.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1.gif"/><Relationship Id="rId5" Type="http://schemas.openxmlformats.org/officeDocument/2006/relationships/image" Target="../media/image23.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2.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arxiv.org/abs/2604.14108" TargetMode="External"/><Relationship Id="rId4" Type="http://schemas.openxmlformats.org/officeDocument/2006/relationships/hyperlink" Target="https://arxiv.org/abs/2604.14669" TargetMode="External"/><Relationship Id="rId5" Type="http://schemas.openxmlformats.org/officeDocument/2006/relationships/image" Target="../media/image6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4.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8.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gif"/><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47.png"/><Relationship Id="rId5"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42.png"/><Relationship Id="rId5" Type="http://schemas.openxmlformats.org/officeDocument/2006/relationships/image" Target="../media/image32.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3.gif"/><Relationship Id="rId4" Type="http://schemas.openxmlformats.org/officeDocument/2006/relationships/image" Target="../media/image36.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5.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8.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7.pn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7.pn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4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7.png"/><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1.png"/><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www.bioinf.jku.at/publications/older/3304.pdf" TargetMode="External"/><Relationship Id="rId4" Type="http://schemas.openxmlformats.org/officeDocument/2006/relationships/hyperlink" Target="https://arxiv.org/abs/1703.11008" TargetMode="External"/><Relationship Id="rId5"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arxiv.org/abs/1912.02178"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s://arxiv.org/abs/2302.07011" TargetMode="External"/><Relationship Id="rId4" Type="http://schemas.openxmlformats.org/officeDocument/2006/relationships/hyperlink" Target="https://arxiv.org/abs/1703.04933" TargetMode="External"/><Relationship Id="rId5" Type="http://schemas.openxmlformats.org/officeDocument/2006/relationships/image" Target="../media/image6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arxiv.org/abs/1703.04933" TargetMode="External"/><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arxiv.org/abs/2010.01412" TargetMode="External"/><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hyperlink" Target="https://arxiv.org/abs/2405.03676" TargetMode="External"/><Relationship Id="rId4" Type="http://schemas.openxmlformats.org/officeDocument/2006/relationships/image" Target="../media/image59.png"/><Relationship Id="rId5" Type="http://schemas.openxmlformats.org/officeDocument/2006/relationships/image" Target="../media/image6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7.png"/><Relationship Id="rId4"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4.png"/><Relationship Id="rId4" Type="http://schemas.openxmlformats.org/officeDocument/2006/relationships/image" Target="../media/image6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Loss Landscapes Part 2</a:t>
            </a:r>
            <a:br>
              <a:rPr lang="en"/>
            </a:br>
            <a:r>
              <a:rPr lang="en"/>
              <a:t>Edge of Stability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10/15</a:t>
            </a:r>
            <a:endParaRPr/>
          </a:p>
        </p:txBody>
      </p:sp>
      <p:sp>
        <p:nvSpPr>
          <p:cNvPr id="56" name="Google Shape;56;p1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800">
                <a:solidFill>
                  <a:schemeClr val="dk1"/>
                </a:solidFill>
                <a:latin typeface="Palatino"/>
                <a:ea typeface="Palatino"/>
                <a:cs typeface="Palatino"/>
                <a:sym typeface="Palatino"/>
              </a:rPr>
              <a:t>Make sure to go to your tutorial!</a:t>
            </a:r>
            <a:endParaRPr sz="1800">
              <a:solidFill>
                <a:schemeClr val="dk1"/>
              </a:solidFill>
              <a:latin typeface="Palatino"/>
              <a:ea typeface="Palatino"/>
              <a:cs typeface="Palatino"/>
              <a:sym typeface="Palati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carry out assignments</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is extremely tempting to go “Chat, do this report for me”. Unfortunately, you will likely get suboptimal experiments and retain less content. Instead, plan out the experiments of interest in natural language, specifying hyperparameters as well as what relationships you’d like to see plotted. Then, you can leave implementation and job monitoring to models </a:t>
            </a:r>
            <a:br>
              <a:rPr lang="en"/>
            </a:br>
            <a:endParaRPr/>
          </a:p>
          <a:p>
            <a:pPr indent="-342900" lvl="0" marL="457200" rtl="0" algn="l">
              <a:spcBef>
                <a:spcPts val="0"/>
              </a:spcBef>
              <a:spcAft>
                <a:spcPts val="0"/>
              </a:spcAft>
              <a:buSzPts val="1800"/>
              <a:buChar char="-"/>
            </a:pPr>
            <a:r>
              <a:rPr lang="en"/>
              <a:t>Always pre-register an experiment outcome. Hypothesis generation is one of the most important parts of the scientific process, and you won’t learn anything from your experiment if you don’t have a perspective coming. Plus, every experiment you run is now free practice!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Today, we will study sharpness</a:t>
            </a:r>
            <a:endParaRPr/>
          </a:p>
          <a:p>
            <a:pPr indent="-342900" lvl="0" marL="457200" rtl="0" algn="l">
              <a:spcBef>
                <a:spcPts val="1200"/>
              </a:spcBef>
              <a:spcAft>
                <a:spcPts val="0"/>
              </a:spcAft>
              <a:buSzPts val="1800"/>
              <a:buAutoNum type="arabicParenR"/>
            </a:pPr>
            <a:r>
              <a:rPr lang="en"/>
              <a:t>Edge of Stability: How does the sharpness evolve over training?</a:t>
            </a:r>
            <a:endParaRPr/>
          </a:p>
          <a:p>
            <a:pPr indent="-317500" lvl="1" marL="914400" rtl="0" algn="l">
              <a:spcBef>
                <a:spcPts val="0"/>
              </a:spcBef>
              <a:spcAft>
                <a:spcPts val="0"/>
              </a:spcAft>
              <a:buSzPts val="1400"/>
              <a:buAutoNum type="alphaLcParenR"/>
            </a:pPr>
            <a:r>
              <a:rPr lang="en"/>
              <a:t>Full batch plain GD followed by modern optimizer components</a:t>
            </a:r>
            <a:endParaRPr/>
          </a:p>
          <a:p>
            <a:pPr indent="-317500" lvl="1" marL="914400" rtl="0" algn="l">
              <a:spcBef>
                <a:spcPts val="0"/>
              </a:spcBef>
              <a:spcAft>
                <a:spcPts val="0"/>
              </a:spcAft>
              <a:buSzPts val="1400"/>
              <a:buAutoNum type="alphaLcParenR"/>
            </a:pPr>
            <a:r>
              <a:rPr lang="en"/>
              <a:t>We will be closely following the tutorial at </a:t>
            </a:r>
            <a:r>
              <a:rPr lang="en" u="sng">
                <a:solidFill>
                  <a:schemeClr val="hlink"/>
                </a:solidFill>
                <a:hlinkClick r:id="rId3"/>
              </a:rPr>
              <a:t>https://centralflows.github.io</a:t>
            </a:r>
            <a:r>
              <a:rPr lang="en"/>
              <a:t> by Jeremy Cohen and Alex Damian</a:t>
            </a:r>
            <a:endParaRPr/>
          </a:p>
          <a:p>
            <a:pPr indent="-342900" lvl="0" marL="457200" rtl="0" algn="l">
              <a:spcBef>
                <a:spcPts val="0"/>
              </a:spcBef>
              <a:spcAft>
                <a:spcPts val="0"/>
              </a:spcAft>
              <a:buSzPts val="1800"/>
              <a:buAutoNum type="arabicParenR"/>
            </a:pPr>
            <a:r>
              <a:rPr lang="en"/>
              <a:t>How does sharpness influence model performance when limited by data?</a:t>
            </a:r>
            <a:endParaRPr/>
          </a:p>
          <a:p>
            <a:pPr indent="-317500" lvl="1" marL="914400" rtl="0" algn="l">
              <a:spcBef>
                <a:spcPts val="0"/>
              </a:spcBef>
              <a:spcAft>
                <a:spcPts val="0"/>
              </a:spcAft>
              <a:buSzPts val="1400"/>
              <a:buAutoNum type="alphaLcParenR"/>
            </a:pPr>
            <a:r>
              <a:rPr lang="en"/>
              <a:t>Note that this will touch on concepts from the Generalization unit</a:t>
            </a:r>
            <a:endParaRPr/>
          </a:p>
          <a:p>
            <a:pPr indent="-342900" lvl="0" marL="457200" rtl="0" algn="l">
              <a:spcBef>
                <a:spcPts val="0"/>
              </a:spcBef>
              <a:spcAft>
                <a:spcPts val="0"/>
              </a:spcAft>
              <a:buSzPts val="1800"/>
              <a:buAutoNum type="arabicParenR"/>
            </a:pPr>
            <a:r>
              <a:rPr lang="en"/>
              <a:t>Optimizing Sharpness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Traditional quadratic intuition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Suppose we were performing SGD on a quadratic (</a:t>
            </a:r>
            <a:r>
              <a:rPr lang="en"/>
              <a:t>1/2)</a:t>
            </a:r>
            <a:r>
              <a:rPr lang="en"/>
              <a:t>Sx</a:t>
            </a:r>
            <a:r>
              <a:rPr baseline="30000" lang="en"/>
              <a:t>2</a:t>
            </a:r>
            <a:r>
              <a:rPr lang="en"/>
              <a:t>. </a:t>
            </a:r>
            <a:r>
              <a:rPr lang="en"/>
              <a:t>In this case, we must set the learning rate so that S &lt; 2/η. Otherwise, training will diverge</a:t>
            </a:r>
            <a:endParaRPr/>
          </a:p>
        </p:txBody>
      </p:sp>
      <p:pic>
        <p:nvPicPr>
          <p:cNvPr id="75" name="Google Shape;75;p16" title="01-quadratic.gif"/>
          <p:cNvPicPr preferRelativeResize="0"/>
          <p:nvPr/>
        </p:nvPicPr>
        <p:blipFill>
          <a:blip r:embed="rId3">
            <a:alphaModFix/>
          </a:blip>
          <a:stretch>
            <a:fillRect/>
          </a:stretch>
        </p:blipFill>
        <p:spPr>
          <a:xfrm>
            <a:off x="1734839" y="2195050"/>
            <a:ext cx="5674326" cy="2600725"/>
          </a:xfrm>
          <a:prstGeom prst="rect">
            <a:avLst/>
          </a:prstGeom>
          <a:noFill/>
          <a:ln>
            <a:noFill/>
          </a:ln>
        </p:spPr>
      </p:pic>
      <p:sp>
        <p:nvSpPr>
          <p:cNvPr id="76" name="Google Shape;76;p1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Traditional quadratic intuition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multiple dimensions, this condition is equivalent to all the eigenvalues of the Hessian staying under 2/η. If not, one of the directions will oscillate. Recall that we had </a:t>
            </a:r>
            <a:r>
              <a:rPr lang="en"/>
              <a:t>the same conditions for learning rate in the NQM with h</a:t>
            </a:r>
            <a:r>
              <a:rPr baseline="-25000" lang="en"/>
              <a:t>i</a:t>
            </a:r>
            <a:r>
              <a:rPr lang="en"/>
              <a:t>.</a:t>
            </a:r>
            <a:endParaRPr/>
          </a:p>
        </p:txBody>
      </p:sp>
      <p:pic>
        <p:nvPicPr>
          <p:cNvPr id="83" name="Google Shape;83;p17"/>
          <p:cNvPicPr preferRelativeResize="0"/>
          <p:nvPr/>
        </p:nvPicPr>
        <p:blipFill>
          <a:blip r:embed="rId3">
            <a:alphaModFix/>
          </a:blip>
          <a:stretch>
            <a:fillRect/>
          </a:stretch>
        </p:blipFill>
        <p:spPr>
          <a:xfrm>
            <a:off x="3288462" y="2204650"/>
            <a:ext cx="2567074" cy="2567100"/>
          </a:xfrm>
          <a:prstGeom prst="rect">
            <a:avLst/>
          </a:prstGeom>
          <a:noFill/>
          <a:ln>
            <a:noFill/>
          </a:ln>
        </p:spPr>
      </p:pic>
      <p:sp>
        <p:nvSpPr>
          <p:cNvPr id="84" name="Google Shape;84;p1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Under this perspective, perhaps gradient descent for deep learning also requires this stability and always maintains sharpness under </a:t>
            </a:r>
            <a:r>
              <a:rPr lang="en"/>
              <a:t>2/η</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1" name="Google Shape;91;p18"/>
          <p:cNvPicPr preferRelativeResize="0"/>
          <p:nvPr/>
        </p:nvPicPr>
        <p:blipFill>
          <a:blip r:embed="rId3">
            <a:alphaModFix/>
          </a:blip>
          <a:stretch>
            <a:fillRect/>
          </a:stretch>
        </p:blipFill>
        <p:spPr>
          <a:xfrm>
            <a:off x="2165763" y="1910225"/>
            <a:ext cx="4812476" cy="2229550"/>
          </a:xfrm>
          <a:prstGeom prst="rect">
            <a:avLst/>
          </a:prstGeom>
          <a:noFill/>
          <a:ln>
            <a:noFill/>
          </a:ln>
        </p:spPr>
      </p:pic>
      <p:sp>
        <p:nvSpPr>
          <p:cNvPr id="92" name="Google Shape;92;p1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mental model would predict that if the sharpness ever exceeds </a:t>
            </a:r>
            <a:r>
              <a:rPr lang="en"/>
              <a:t>2/η, training would diverge</a:t>
            </a:r>
            <a:r>
              <a:rPr lang="en"/>
              <a:t> </a:t>
            </a:r>
            <a:endParaRPr/>
          </a:p>
        </p:txBody>
      </p:sp>
      <p:pic>
        <p:nvPicPr>
          <p:cNvPr id="99" name="Google Shape;99;p19" title="03-progressive-sharpening.gif"/>
          <p:cNvPicPr preferRelativeResize="0"/>
          <p:nvPr/>
        </p:nvPicPr>
        <p:blipFill>
          <a:blip r:embed="rId3">
            <a:alphaModFix/>
          </a:blip>
          <a:stretch>
            <a:fillRect/>
          </a:stretch>
        </p:blipFill>
        <p:spPr>
          <a:xfrm>
            <a:off x="580750" y="2246825"/>
            <a:ext cx="7982499" cy="2394750"/>
          </a:xfrm>
          <a:prstGeom prst="rect">
            <a:avLst/>
          </a:prstGeom>
          <a:noFill/>
          <a:ln>
            <a:noFill/>
          </a:ln>
        </p:spPr>
      </p:pic>
      <p:sp>
        <p:nvSpPr>
          <p:cNvPr id="100" name="Google Shape;100;p1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 to quadratics, the the loss starts to blow up and the model starts to oscillate around the top eigenvalue of the Hessian</a:t>
            </a:r>
            <a:endParaRPr/>
          </a:p>
        </p:txBody>
      </p:sp>
      <p:sp>
        <p:nvSpPr>
          <p:cNvPr id="107" name="Google Shape;107;p20"/>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pic>
        <p:nvPicPr>
          <p:cNvPr id="108" name="Google Shape;108;p20" title="04-blowup.gif"/>
          <p:cNvPicPr preferRelativeResize="0"/>
          <p:nvPr/>
        </p:nvPicPr>
        <p:blipFill>
          <a:blip r:embed="rId3">
            <a:alphaModFix/>
          </a:blip>
          <a:stretch>
            <a:fillRect/>
          </a:stretch>
        </p:blipFill>
        <p:spPr>
          <a:xfrm>
            <a:off x="580710" y="2256150"/>
            <a:ext cx="7982541" cy="2394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114" name="Google Shape;11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Interestingly, with enough oscillation the sharpness drops back down! This deviates from quadratics</a:t>
            </a:r>
            <a:endParaRPr/>
          </a:p>
        </p:txBody>
      </p:sp>
      <p:sp>
        <p:nvSpPr>
          <p:cNvPr id="115" name="Google Shape;115;p21"/>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pic>
        <p:nvPicPr>
          <p:cNvPr id="116" name="Google Shape;116;p21"/>
          <p:cNvPicPr preferRelativeResize="0"/>
          <p:nvPr/>
        </p:nvPicPr>
        <p:blipFill>
          <a:blip r:embed="rId3">
            <a:alphaModFix/>
          </a:blip>
          <a:stretch>
            <a:fillRect/>
          </a:stretch>
        </p:blipFill>
        <p:spPr>
          <a:xfrm>
            <a:off x="580759" y="2256150"/>
            <a:ext cx="7982490" cy="239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122" name="Google Shape;12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can now look at the full run to see </a:t>
            </a:r>
            <a:r>
              <a:rPr lang="en"/>
              <a:t>how loss (inconsistently) goes down while the sharpness equilibrates around 2/η</a:t>
            </a:r>
            <a:endParaRPr/>
          </a:p>
        </p:txBody>
      </p:sp>
      <p:pic>
        <p:nvPicPr>
          <p:cNvPr id="123" name="Google Shape;123;p22" title="06-eos.gif"/>
          <p:cNvPicPr preferRelativeResize="0"/>
          <p:nvPr/>
        </p:nvPicPr>
        <p:blipFill>
          <a:blip r:embed="rId3">
            <a:alphaModFix/>
          </a:blip>
          <a:stretch>
            <a:fillRect/>
          </a:stretch>
        </p:blipFill>
        <p:spPr>
          <a:xfrm>
            <a:off x="580750" y="2246825"/>
            <a:ext cx="7982499" cy="2394760"/>
          </a:xfrm>
          <a:prstGeom prst="rect">
            <a:avLst/>
          </a:prstGeom>
          <a:noFill/>
          <a:ln>
            <a:noFill/>
          </a:ln>
        </p:spPr>
      </p:pic>
      <p:sp>
        <p:nvSpPr>
          <p:cNvPr id="124" name="Google Shape;124;p2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130" name="Google Shape;13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same phenomenon occurs at a different learning rate with the sharpness equilibrating at a correspondingly different threshold</a:t>
            </a:r>
            <a:endParaRPr/>
          </a:p>
        </p:txBody>
      </p:sp>
      <p:pic>
        <p:nvPicPr>
          <p:cNvPr id="131" name="Google Shape;131;p23" title="07-smaller-lr.gif"/>
          <p:cNvPicPr preferRelativeResize="0"/>
          <p:nvPr/>
        </p:nvPicPr>
        <p:blipFill>
          <a:blip r:embed="rId3">
            <a:alphaModFix/>
          </a:blip>
          <a:stretch>
            <a:fillRect/>
          </a:stretch>
        </p:blipFill>
        <p:spPr>
          <a:xfrm>
            <a:off x="580750" y="2246837"/>
            <a:ext cx="7982499" cy="2394738"/>
          </a:xfrm>
          <a:prstGeom prst="rect">
            <a:avLst/>
          </a:prstGeom>
          <a:noFill/>
          <a:ln>
            <a:noFill/>
          </a:ln>
        </p:spPr>
      </p:pic>
      <p:sp>
        <p:nvSpPr>
          <p:cNvPr id="132" name="Google Shape;132;p2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in deep networks</a:t>
            </a:r>
            <a:endParaRPr/>
          </a:p>
          <a:p>
            <a:pPr indent="0" lvl="0" marL="0" rtl="0" algn="l">
              <a:spcBef>
                <a:spcPts val="0"/>
              </a:spcBef>
              <a:spcAft>
                <a:spcPts val="0"/>
              </a:spcAft>
              <a:buNone/>
            </a:pPr>
            <a:r>
              <a:t/>
            </a:r>
            <a:endParaRPr/>
          </a:p>
        </p:txBody>
      </p:sp>
      <p:sp>
        <p:nvSpPr>
          <p:cNvPr id="138" name="Google Shape;13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Therefore, the traditional picture is somewhat flawed and gradient descent hovers around the “Edge of Stability” </a:t>
            </a:r>
            <a:endParaRPr/>
          </a:p>
        </p:txBody>
      </p:sp>
      <p:pic>
        <p:nvPicPr>
          <p:cNvPr id="139" name="Google Shape;139;p24"/>
          <p:cNvPicPr preferRelativeResize="0"/>
          <p:nvPr/>
        </p:nvPicPr>
        <p:blipFill>
          <a:blip r:embed="rId3">
            <a:alphaModFix/>
          </a:blip>
          <a:stretch>
            <a:fillRect/>
          </a:stretch>
        </p:blipFill>
        <p:spPr>
          <a:xfrm>
            <a:off x="2165775" y="1910226"/>
            <a:ext cx="4868653" cy="2229551"/>
          </a:xfrm>
          <a:prstGeom prst="rect">
            <a:avLst/>
          </a:prstGeom>
          <a:noFill/>
          <a:ln>
            <a:noFill/>
          </a:ln>
        </p:spPr>
      </p:pic>
      <p:sp>
        <p:nvSpPr>
          <p:cNvPr id="140" name="Google Shape;140;p24"/>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GD vs SGD</a:t>
            </a:r>
            <a:endParaRPr/>
          </a:p>
        </p:txBody>
      </p:sp>
      <p:sp>
        <p:nvSpPr>
          <p:cNvPr id="146" name="Google Shape;14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loss curves in the preceding plot have unusually exaggerated loss spikes due to the use of full-batch GD. Nonetheless, similar behavior also exists for SGD with a different threshold [</a:t>
            </a:r>
            <a:r>
              <a:rPr lang="en" u="sng">
                <a:solidFill>
                  <a:schemeClr val="hlink"/>
                </a:solidFill>
                <a:hlinkClick r:id="rId3"/>
              </a:rPr>
              <a:t>Jastrzebski et al, 2018</a:t>
            </a: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 your assignment, you will spend the majority of Problem 3 exploring the Edge of Stability in the typical minibatch regime</a:t>
            </a:r>
            <a:endParaRPr/>
          </a:p>
        </p:txBody>
      </p:sp>
      <p:sp>
        <p:nvSpPr>
          <p:cNvPr id="147" name="Google Shape;147;p25"/>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On the Relation Between the Sharpest Directions of DNN Loss and the SGD Step Length</a:t>
            </a:r>
            <a:endParaRPr sz="1000">
              <a:solidFill>
                <a:schemeClr val="dk1"/>
              </a:solidFill>
              <a:latin typeface="Palatino"/>
              <a:ea typeface="Palatino"/>
              <a:cs typeface="Palatino"/>
              <a:sym typeface="Palati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Self-stabilization (informal)</a:t>
            </a:r>
            <a:endParaRPr/>
          </a:p>
        </p:txBody>
      </p:sp>
      <p:sp>
        <p:nvSpPr>
          <p:cNvPr id="153" name="Google Shape;15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Oscillation around the top eigenvector can be written as</a:t>
            </a:r>
            <a:endParaRPr/>
          </a:p>
          <a:p>
            <a:pPr indent="0" lvl="0" marL="0" rtl="0" algn="l">
              <a:spcBef>
                <a:spcPts val="1200"/>
              </a:spcBef>
              <a:spcAft>
                <a:spcPts val="0"/>
              </a:spcAft>
              <a:buNone/>
            </a:pPr>
            <a:r>
              <a:rPr lang="en"/>
              <a:t>Take a Taylor expansion of the loss around this weight. Keeping the first and second term yields a quadratic approximation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approximation behaves like a quadratic model where we will move in the opposite direction of u, causing oscillation for large sharpness</a:t>
            </a:r>
            <a:endParaRPr/>
          </a:p>
        </p:txBody>
      </p:sp>
      <p:sp>
        <p:nvSpPr>
          <p:cNvPr id="154" name="Google Shape;154;p2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Self-Stabilization: The Implicit Bias of Gradient Descent at the Edge of Stability</a:t>
            </a:r>
            <a:endParaRPr sz="1000">
              <a:solidFill>
                <a:schemeClr val="dk1"/>
              </a:solidFill>
              <a:latin typeface="Palatino"/>
              <a:ea typeface="Palatino"/>
              <a:cs typeface="Palatino"/>
              <a:sym typeface="Palatino"/>
            </a:endParaRPr>
          </a:p>
        </p:txBody>
      </p:sp>
      <p:pic>
        <p:nvPicPr>
          <p:cNvPr id="155" name="Google Shape;155;p26"/>
          <p:cNvPicPr preferRelativeResize="0"/>
          <p:nvPr/>
        </p:nvPicPr>
        <p:blipFill>
          <a:blip r:embed="rId3">
            <a:alphaModFix/>
          </a:blip>
          <a:stretch>
            <a:fillRect/>
          </a:stretch>
        </p:blipFill>
        <p:spPr>
          <a:xfrm>
            <a:off x="6162600" y="1196875"/>
            <a:ext cx="1546201" cy="426525"/>
          </a:xfrm>
          <a:prstGeom prst="rect">
            <a:avLst/>
          </a:prstGeom>
          <a:noFill/>
          <a:ln>
            <a:noFill/>
          </a:ln>
        </p:spPr>
      </p:pic>
      <p:pic>
        <p:nvPicPr>
          <p:cNvPr id="156" name="Google Shape;156;p26"/>
          <p:cNvPicPr preferRelativeResize="0"/>
          <p:nvPr/>
        </p:nvPicPr>
        <p:blipFill>
          <a:blip r:embed="rId4">
            <a:alphaModFix/>
          </a:blip>
          <a:stretch>
            <a:fillRect/>
          </a:stretch>
        </p:blipFill>
        <p:spPr>
          <a:xfrm>
            <a:off x="2074401" y="2437871"/>
            <a:ext cx="4995175" cy="1073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Self-stabilization (informal)</a:t>
            </a:r>
            <a:endParaRPr/>
          </a:p>
        </p:txBody>
      </p:sp>
      <p:sp>
        <p:nvSpPr>
          <p:cNvPr id="162" name="Google Shape;16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magic comes from a third-order Taylor expansion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inner quantity is the curvature in the u direction, equivalent to the eigenvalue in the u direction. Therefore, this expression takes the gradient of the sharpness and minimizes it with effective step size (</a:t>
            </a:r>
            <a:r>
              <a:rPr lang="en"/>
              <a:t>1/2</a:t>
            </a:r>
            <a:r>
              <a:rPr lang="en"/>
              <a:t>)ηx</a:t>
            </a:r>
            <a:r>
              <a:rPr baseline="30000" lang="en"/>
              <a:t>2</a:t>
            </a:r>
            <a:endParaRPr/>
          </a:p>
        </p:txBody>
      </p:sp>
      <p:sp>
        <p:nvSpPr>
          <p:cNvPr id="163" name="Google Shape;163;p2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Self-Stabilization: The Implicit Bias of Gradient Descent at the Edge of Stability</a:t>
            </a:r>
            <a:endParaRPr sz="1000">
              <a:solidFill>
                <a:schemeClr val="dk1"/>
              </a:solidFill>
              <a:latin typeface="Palatino"/>
              <a:ea typeface="Palatino"/>
              <a:cs typeface="Palatino"/>
              <a:sym typeface="Palatino"/>
            </a:endParaRPr>
          </a:p>
        </p:txBody>
      </p:sp>
      <p:pic>
        <p:nvPicPr>
          <p:cNvPr id="164" name="Google Shape;164;p27"/>
          <p:cNvPicPr preferRelativeResize="0"/>
          <p:nvPr/>
        </p:nvPicPr>
        <p:blipFill>
          <a:blip r:embed="rId3">
            <a:alphaModFix/>
          </a:blip>
          <a:stretch>
            <a:fillRect/>
          </a:stretch>
        </p:blipFill>
        <p:spPr>
          <a:xfrm>
            <a:off x="1454070" y="1675088"/>
            <a:ext cx="6235858" cy="10870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eigenvalues</a:t>
            </a:r>
            <a:endParaRPr/>
          </a:p>
        </p:txBody>
      </p:sp>
      <p:sp>
        <p:nvSpPr>
          <p:cNvPr id="170" name="Google Shape;17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We’ve analyzed only the top eigenvalue. When there are multiple eigenvalues, it can be observed that multiple of them eventually reach the edge of stability and oscillate at this threshold</a:t>
            </a:r>
            <a:endParaRPr/>
          </a:p>
        </p:txBody>
      </p:sp>
      <p:sp>
        <p:nvSpPr>
          <p:cNvPr id="171" name="Google Shape;171;p2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pic>
        <p:nvPicPr>
          <p:cNvPr id="172" name="Google Shape;172;p28" title="12-eos-multiple.gif"/>
          <p:cNvPicPr preferRelativeResize="0"/>
          <p:nvPr/>
        </p:nvPicPr>
        <p:blipFill>
          <a:blip r:embed="rId3">
            <a:alphaModFix/>
          </a:blip>
          <a:stretch>
            <a:fillRect/>
          </a:stretch>
        </p:blipFill>
        <p:spPr>
          <a:xfrm>
            <a:off x="580750" y="2246825"/>
            <a:ext cx="7982499" cy="239474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Gradient Flow</a:t>
            </a:r>
            <a:endParaRPr/>
          </a:p>
        </p:txBody>
      </p:sp>
      <p:sp>
        <p:nvSpPr>
          <p:cNvPr id="178" name="Google Shape;17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Though the exact dynamics are difficult to analyze, is there a theoretical construct that can capture the macroscopic properties of training?</a:t>
            </a:r>
            <a:endParaRPr/>
          </a:p>
          <a:p>
            <a:pPr indent="0" lvl="0" marL="0" rtl="0" algn="l">
              <a:spcBef>
                <a:spcPts val="1200"/>
              </a:spcBef>
              <a:spcAft>
                <a:spcPts val="0"/>
              </a:spcAft>
              <a:buNone/>
            </a:pPr>
            <a:r>
              <a:rPr lang="en"/>
              <a:t>The typical approach is to consider the continuous-time approximation to gradient descent, a differential equation called </a:t>
            </a:r>
            <a:r>
              <a:rPr i="1" lang="en"/>
              <a:t>gradient flow</a:t>
            </a:r>
            <a:endParaRPr i="1"/>
          </a:p>
          <a:p>
            <a:pPr indent="0" lvl="0" marL="0" rtl="0" algn="l">
              <a:spcBef>
                <a:spcPts val="1200"/>
              </a:spcBef>
              <a:spcAft>
                <a:spcPts val="1200"/>
              </a:spcAft>
              <a:buNone/>
            </a:pPr>
            <a:r>
              <a:t/>
            </a:r>
            <a:endParaRPr/>
          </a:p>
        </p:txBody>
      </p:sp>
      <p:sp>
        <p:nvSpPr>
          <p:cNvPr id="179" name="Google Shape;179;p2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180" name="Google Shape;180;p29"/>
          <p:cNvPicPr preferRelativeResize="0"/>
          <p:nvPr/>
        </p:nvPicPr>
        <p:blipFill>
          <a:blip r:embed="rId3">
            <a:alphaModFix/>
          </a:blip>
          <a:stretch>
            <a:fillRect/>
          </a:stretch>
        </p:blipFill>
        <p:spPr>
          <a:xfrm>
            <a:off x="3478200" y="3136575"/>
            <a:ext cx="2187600" cy="750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Gradient Flow</a:t>
            </a:r>
            <a:endParaRPr/>
          </a:p>
        </p:txBody>
      </p:sp>
      <p:sp>
        <p:nvSpPr>
          <p:cNvPr id="186" name="Google Shape;18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Gradient flow is actually pretty good at capturing training before sharpness exceeds the edge of stability. However, past this regime, gradient flow continues to increase sharpness, diverging from empirics</a:t>
            </a:r>
            <a:endParaRPr i="1"/>
          </a:p>
          <a:p>
            <a:pPr indent="0" lvl="0" marL="0" rtl="0" algn="l">
              <a:spcBef>
                <a:spcPts val="1200"/>
              </a:spcBef>
              <a:spcAft>
                <a:spcPts val="1200"/>
              </a:spcAft>
              <a:buNone/>
            </a:pPr>
            <a:r>
              <a:t/>
            </a:r>
            <a:endParaRPr/>
          </a:p>
        </p:txBody>
      </p:sp>
      <p:sp>
        <p:nvSpPr>
          <p:cNvPr id="187" name="Google Shape;187;p30"/>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188" name="Google Shape;188;p30" title="13-gradientflow.gif"/>
          <p:cNvPicPr preferRelativeResize="0"/>
          <p:nvPr/>
        </p:nvPicPr>
        <p:blipFill>
          <a:blip r:embed="rId3">
            <a:alphaModFix/>
          </a:blip>
          <a:stretch>
            <a:fillRect/>
          </a:stretch>
        </p:blipFill>
        <p:spPr>
          <a:xfrm>
            <a:off x="290350" y="2357175"/>
            <a:ext cx="8563299" cy="2140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194" name="Google Shape;19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central flow models gradient descent via its time-averaged trajectory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Informal proof sketch: assume time-averaged trajectory follows a differential equation, show that only one makes sense, and show that it agrees with empirics</a:t>
            </a:r>
            <a:endParaRPr i="1"/>
          </a:p>
          <a:p>
            <a:pPr indent="0" lvl="0" marL="0" rtl="0" algn="l">
              <a:spcBef>
                <a:spcPts val="1200"/>
              </a:spcBef>
              <a:spcAft>
                <a:spcPts val="1200"/>
              </a:spcAft>
              <a:buNone/>
            </a:pPr>
            <a:r>
              <a:t/>
            </a:r>
            <a:endParaRPr/>
          </a:p>
        </p:txBody>
      </p:sp>
      <p:sp>
        <p:nvSpPr>
          <p:cNvPr id="195" name="Google Shape;195;p31"/>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196" name="Google Shape;196;p31"/>
          <p:cNvPicPr preferRelativeResize="0"/>
          <p:nvPr/>
        </p:nvPicPr>
        <p:blipFill>
          <a:blip r:embed="rId3">
            <a:alphaModFix/>
          </a:blip>
          <a:stretch>
            <a:fillRect/>
          </a:stretch>
        </p:blipFill>
        <p:spPr>
          <a:xfrm>
            <a:off x="1359675" y="1749775"/>
            <a:ext cx="6424673" cy="1465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02" name="Google Shape;202;p32"/>
          <p:cNvSpPr txBox="1"/>
          <p:nvPr>
            <p:ph idx="1" type="body"/>
          </p:nvPr>
        </p:nvSpPr>
        <p:spPr>
          <a:xfrm>
            <a:off x="311700" y="1152475"/>
            <a:ext cx="29211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When only one eigenvalue is at edge of stability, we can write each iterate as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with Taylor expansion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By abusing notation, we can cancel out the oscillation</a:t>
            </a:r>
            <a:endParaRPr/>
          </a:p>
        </p:txBody>
      </p:sp>
      <p:sp>
        <p:nvSpPr>
          <p:cNvPr id="203" name="Google Shape;203;p3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04" name="Google Shape;204;p32"/>
          <p:cNvPicPr preferRelativeResize="0"/>
          <p:nvPr/>
        </p:nvPicPr>
        <p:blipFill>
          <a:blip r:embed="rId3">
            <a:alphaModFix/>
          </a:blip>
          <a:stretch>
            <a:fillRect/>
          </a:stretch>
        </p:blipFill>
        <p:spPr>
          <a:xfrm>
            <a:off x="4348224" y="1368237"/>
            <a:ext cx="3628751" cy="743700"/>
          </a:xfrm>
          <a:prstGeom prst="rect">
            <a:avLst/>
          </a:prstGeom>
          <a:noFill/>
          <a:ln>
            <a:noFill/>
          </a:ln>
        </p:spPr>
      </p:pic>
      <p:pic>
        <p:nvPicPr>
          <p:cNvPr id="205" name="Google Shape;205;p32"/>
          <p:cNvPicPr preferRelativeResize="0"/>
          <p:nvPr/>
        </p:nvPicPr>
        <p:blipFill>
          <a:blip r:embed="rId4">
            <a:alphaModFix/>
          </a:blip>
          <a:stretch>
            <a:fillRect/>
          </a:stretch>
        </p:blipFill>
        <p:spPr>
          <a:xfrm>
            <a:off x="3438620" y="2462450"/>
            <a:ext cx="5447943" cy="743700"/>
          </a:xfrm>
          <a:prstGeom prst="rect">
            <a:avLst/>
          </a:prstGeom>
          <a:noFill/>
          <a:ln>
            <a:noFill/>
          </a:ln>
        </p:spPr>
      </p:pic>
      <p:pic>
        <p:nvPicPr>
          <p:cNvPr id="206" name="Google Shape;206;p32"/>
          <p:cNvPicPr preferRelativeResize="0"/>
          <p:nvPr/>
        </p:nvPicPr>
        <p:blipFill>
          <a:blip r:embed="rId5">
            <a:alphaModFix/>
          </a:blip>
          <a:stretch>
            <a:fillRect/>
          </a:stretch>
        </p:blipFill>
        <p:spPr>
          <a:xfrm>
            <a:off x="3295338" y="3535939"/>
            <a:ext cx="5734477" cy="70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12" name="Google Shape;212;p33"/>
          <p:cNvSpPr txBox="1"/>
          <p:nvPr>
            <p:ph idx="1" type="body"/>
          </p:nvPr>
        </p:nvSpPr>
        <p:spPr>
          <a:xfrm>
            <a:off x="311700" y="1152475"/>
            <a:ext cx="8373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corresponds to a differential equation</a:t>
            </a:r>
            <a:br>
              <a:rPr lang="en"/>
            </a:br>
            <a:r>
              <a:rPr lang="en"/>
              <a:t>with unknown sharpness </a:t>
            </a:r>
            <a:r>
              <a:rPr lang="en"/>
              <a:t>penalty that </a:t>
            </a:r>
            <a:br>
              <a:rPr lang="en"/>
            </a:br>
            <a:r>
              <a:rPr lang="en"/>
              <a:t>depends on the oscillations</a:t>
            </a:r>
            <a:r>
              <a:rPr lang="en"/>
              <a:t>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know that when we enter the edge of stability, the time-averaged sharpness stops changing. Therefore, we will enforce that the time derivative of the sharpness along the central flow is zero</a:t>
            </a:r>
            <a:endParaRPr/>
          </a:p>
        </p:txBody>
      </p:sp>
      <p:sp>
        <p:nvSpPr>
          <p:cNvPr id="213" name="Google Shape;213;p3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14" name="Google Shape;214;p33"/>
          <p:cNvPicPr preferRelativeResize="0"/>
          <p:nvPr/>
        </p:nvPicPr>
        <p:blipFill>
          <a:blip r:embed="rId3">
            <a:alphaModFix/>
          </a:blip>
          <a:stretch>
            <a:fillRect/>
          </a:stretch>
        </p:blipFill>
        <p:spPr>
          <a:xfrm>
            <a:off x="4871525" y="1109972"/>
            <a:ext cx="3745524" cy="1358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20" name="Google Shape;220;p34"/>
          <p:cNvSpPr txBox="1"/>
          <p:nvPr>
            <p:ph idx="1" type="body"/>
          </p:nvPr>
        </p:nvSpPr>
        <p:spPr>
          <a:xfrm>
            <a:off x="311700" y="1152475"/>
            <a:ext cx="8373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Interestingly, there is only one such choice that meets this propert</a:t>
            </a:r>
            <a:r>
              <a:rPr lang="en"/>
              <a:t>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br>
              <a:rPr lang="en"/>
            </a:br>
            <a:r>
              <a:rPr lang="en"/>
              <a:t>This gives us the unique solution</a:t>
            </a:r>
            <a:endParaRPr/>
          </a:p>
        </p:txBody>
      </p:sp>
      <p:sp>
        <p:nvSpPr>
          <p:cNvPr id="221" name="Google Shape;221;p34"/>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22" name="Google Shape;222;p34"/>
          <p:cNvPicPr preferRelativeResize="0"/>
          <p:nvPr/>
        </p:nvPicPr>
        <p:blipFill>
          <a:blip r:embed="rId3">
            <a:alphaModFix/>
          </a:blip>
          <a:stretch>
            <a:fillRect/>
          </a:stretch>
        </p:blipFill>
        <p:spPr>
          <a:xfrm>
            <a:off x="2341474" y="1634950"/>
            <a:ext cx="4943123" cy="1694176"/>
          </a:xfrm>
          <a:prstGeom prst="rect">
            <a:avLst/>
          </a:prstGeom>
          <a:noFill/>
          <a:ln>
            <a:noFill/>
          </a:ln>
        </p:spPr>
      </p:pic>
      <p:pic>
        <p:nvPicPr>
          <p:cNvPr id="223" name="Google Shape;223;p34"/>
          <p:cNvPicPr preferRelativeResize="0"/>
          <p:nvPr/>
        </p:nvPicPr>
        <p:blipFill>
          <a:blip r:embed="rId4">
            <a:alphaModFix/>
          </a:blip>
          <a:stretch>
            <a:fillRect/>
          </a:stretch>
        </p:blipFill>
        <p:spPr>
          <a:xfrm>
            <a:off x="4142875" y="3629500"/>
            <a:ext cx="3174250" cy="939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29" name="Google Shape;229;p35"/>
          <p:cNvSpPr txBox="1"/>
          <p:nvPr>
            <p:ph idx="1" type="body"/>
          </p:nvPr>
        </p:nvSpPr>
        <p:spPr>
          <a:xfrm>
            <a:off x="311700" y="1152475"/>
            <a:ext cx="8373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Now we can assess its empirical predictions. We find that it tracks the empirical predictions quite well</a:t>
            </a:r>
            <a:endParaRPr/>
          </a:p>
        </p:txBody>
      </p:sp>
      <p:sp>
        <p:nvSpPr>
          <p:cNvPr id="230" name="Google Shape;230;p35"/>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31" name="Google Shape;231;p35" title="14-centralflow.gif"/>
          <p:cNvPicPr preferRelativeResize="0"/>
          <p:nvPr/>
        </p:nvPicPr>
        <p:blipFill>
          <a:blip r:embed="rId3">
            <a:alphaModFix/>
          </a:blip>
          <a:stretch>
            <a:fillRect/>
          </a:stretch>
        </p:blipFill>
        <p:spPr>
          <a:xfrm>
            <a:off x="290350" y="2357188"/>
            <a:ext cx="8563299" cy="21408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37" name="Google Shape;237;p36"/>
          <p:cNvSpPr txBox="1"/>
          <p:nvPr>
            <p:ph idx="1" type="body"/>
          </p:nvPr>
        </p:nvSpPr>
        <p:spPr>
          <a:xfrm>
            <a:off x="311700" y="1152475"/>
            <a:ext cx="8373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can also generalize it to multiple eigenvectors and track each </a:t>
            </a:r>
            <a:r>
              <a:rPr lang="en"/>
              <a:t>separately</a:t>
            </a:r>
            <a:r>
              <a:rPr lang="en"/>
              <a:t> </a:t>
            </a:r>
            <a:endParaRPr/>
          </a:p>
        </p:txBody>
      </p:sp>
      <p:sp>
        <p:nvSpPr>
          <p:cNvPr id="238" name="Google Shape;238;p3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39" name="Google Shape;239;p36" title="16-centralflow-multi-unstable.gif"/>
          <p:cNvPicPr preferRelativeResize="0"/>
          <p:nvPr/>
        </p:nvPicPr>
        <p:blipFill>
          <a:blip r:embed="rId3">
            <a:alphaModFix/>
          </a:blip>
          <a:stretch>
            <a:fillRect/>
          </a:stretch>
        </p:blipFill>
        <p:spPr>
          <a:xfrm>
            <a:off x="458663" y="2197225"/>
            <a:ext cx="8226675" cy="2056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Central Flow</a:t>
            </a:r>
            <a:endParaRPr/>
          </a:p>
        </p:txBody>
      </p:sp>
      <p:sp>
        <p:nvSpPr>
          <p:cNvPr id="245" name="Google Shape;245;p37"/>
          <p:cNvSpPr txBox="1"/>
          <p:nvPr>
            <p:ph idx="1" type="body"/>
          </p:nvPr>
        </p:nvSpPr>
        <p:spPr>
          <a:xfrm>
            <a:off x="311700" y="1152475"/>
            <a:ext cx="8373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central flow can further be used to track the variations in individual predictions</a:t>
            </a:r>
            <a:endParaRPr/>
          </a:p>
        </p:txBody>
      </p:sp>
      <p:sp>
        <p:nvSpPr>
          <p:cNvPr id="246" name="Google Shape;246;p3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47" name="Google Shape;247;p37" title="19-central-flow-network-predictions.gif"/>
          <p:cNvPicPr preferRelativeResize="0"/>
          <p:nvPr/>
        </p:nvPicPr>
        <p:blipFill>
          <a:blip r:embed="rId3">
            <a:alphaModFix/>
          </a:blip>
          <a:stretch>
            <a:fillRect/>
          </a:stretch>
        </p:blipFill>
        <p:spPr>
          <a:xfrm>
            <a:off x="491950" y="2314975"/>
            <a:ext cx="8160099" cy="2040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River valley predictions</a:t>
            </a:r>
            <a:endParaRPr/>
          </a:p>
        </p:txBody>
      </p:sp>
      <p:sp>
        <p:nvSpPr>
          <p:cNvPr id="253" name="Google Shape;25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Since the central flow captures the time-averaged dynamics, it intuitively corresponds to the river direction in the river </a:t>
            </a:r>
            <a:r>
              <a:rPr lang="en"/>
              <a:t>valley</a:t>
            </a:r>
            <a:r>
              <a:rPr lang="en"/>
              <a:t> mental model, revealing hidden progress made without annealing (and even the loss without annealing)</a:t>
            </a:r>
            <a:endParaRPr/>
          </a:p>
        </p:txBody>
      </p:sp>
      <p:pic>
        <p:nvPicPr>
          <p:cNvPr id="254" name="Google Shape;254;p38"/>
          <p:cNvPicPr preferRelativeResize="0"/>
          <p:nvPr/>
        </p:nvPicPr>
        <p:blipFill>
          <a:blip r:embed="rId3">
            <a:alphaModFix/>
          </a:blip>
          <a:stretch>
            <a:fillRect/>
          </a:stretch>
        </p:blipFill>
        <p:spPr>
          <a:xfrm>
            <a:off x="284138" y="2622013"/>
            <a:ext cx="2571461" cy="1446449"/>
          </a:xfrm>
          <a:prstGeom prst="rect">
            <a:avLst/>
          </a:prstGeom>
          <a:noFill/>
          <a:ln>
            <a:noFill/>
          </a:ln>
        </p:spPr>
      </p:pic>
      <p:sp>
        <p:nvSpPr>
          <p:cNvPr id="255" name="Google Shape;255;p3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256" name="Google Shape;256;p38" title="22-loss-predicted.gif"/>
          <p:cNvPicPr preferRelativeResize="0"/>
          <p:nvPr/>
        </p:nvPicPr>
        <p:blipFill>
          <a:blip r:embed="rId4">
            <a:alphaModFix/>
          </a:blip>
          <a:stretch>
            <a:fillRect/>
          </a:stretch>
        </p:blipFill>
        <p:spPr>
          <a:xfrm>
            <a:off x="3016613" y="2622025"/>
            <a:ext cx="2892900" cy="1446450"/>
          </a:xfrm>
          <a:prstGeom prst="rect">
            <a:avLst/>
          </a:prstGeom>
          <a:noFill/>
          <a:ln>
            <a:noFill/>
          </a:ln>
        </p:spPr>
      </p:pic>
      <p:pic>
        <p:nvPicPr>
          <p:cNvPr id="257" name="Google Shape;257;p38" title="23-gradient-norm.gif"/>
          <p:cNvPicPr preferRelativeResize="0"/>
          <p:nvPr/>
        </p:nvPicPr>
        <p:blipFill>
          <a:blip r:embed="rId5">
            <a:alphaModFix/>
          </a:blip>
          <a:stretch>
            <a:fillRect/>
          </a:stretch>
        </p:blipFill>
        <p:spPr>
          <a:xfrm>
            <a:off x="6038538" y="2639912"/>
            <a:ext cx="2821326" cy="141066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River valley predictions</a:t>
            </a:r>
            <a:endParaRPr/>
          </a:p>
        </p:txBody>
      </p:sp>
      <p:sp>
        <p:nvSpPr>
          <p:cNvPr id="263" name="Google Shape;263;p39"/>
          <p:cNvSpPr txBox="1"/>
          <p:nvPr>
            <p:ph idx="1" type="body"/>
          </p:nvPr>
        </p:nvSpPr>
        <p:spPr>
          <a:xfrm>
            <a:off x="311700" y="1152475"/>
            <a:ext cx="4613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two layers of movement at once</a:t>
            </a:r>
            <a:endParaRPr/>
          </a:p>
          <a:p>
            <a:pPr indent="-342900" lvl="0" marL="457200" rtl="0" algn="l">
              <a:spcBef>
                <a:spcPts val="1200"/>
              </a:spcBef>
              <a:spcAft>
                <a:spcPts val="0"/>
              </a:spcAft>
              <a:buSzPts val="1800"/>
              <a:buAutoNum type="arabicParenR"/>
            </a:pPr>
            <a:r>
              <a:rPr lang="en"/>
              <a:t>Oscillations from wall to wall</a:t>
            </a:r>
            <a:endParaRPr/>
          </a:p>
          <a:p>
            <a:pPr indent="-342900" lvl="0" marL="457200" rtl="0" algn="l">
              <a:spcBef>
                <a:spcPts val="0"/>
              </a:spcBef>
              <a:spcAft>
                <a:spcPts val="0"/>
              </a:spcAft>
              <a:buSzPts val="1800"/>
              <a:buAutoNum type="arabicParenR"/>
            </a:pPr>
            <a:r>
              <a:rPr lang="en"/>
              <a:t>Moving vertically from varying sharpness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first source of movement comes from high sharpness, the second source comes from oscillating sharpness</a:t>
            </a:r>
            <a:endParaRPr/>
          </a:p>
        </p:txBody>
      </p:sp>
      <p:pic>
        <p:nvPicPr>
          <p:cNvPr id="264" name="Google Shape;264;p39"/>
          <p:cNvPicPr preferRelativeResize="0"/>
          <p:nvPr/>
        </p:nvPicPr>
        <p:blipFill>
          <a:blip r:embed="rId3">
            <a:alphaModFix/>
          </a:blip>
          <a:stretch>
            <a:fillRect/>
          </a:stretch>
        </p:blipFill>
        <p:spPr>
          <a:xfrm>
            <a:off x="5034226" y="1477363"/>
            <a:ext cx="3891173" cy="2188774"/>
          </a:xfrm>
          <a:prstGeom prst="rect">
            <a:avLst/>
          </a:prstGeom>
          <a:noFill/>
          <a:ln>
            <a:noFill/>
          </a:ln>
        </p:spPr>
      </p:pic>
      <p:sp>
        <p:nvSpPr>
          <p:cNvPr id="265" name="Google Shape;265;p3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271" name="Google Shape;271;p40"/>
          <p:cNvSpPr txBox="1"/>
          <p:nvPr>
            <p:ph idx="1" type="body"/>
          </p:nvPr>
        </p:nvSpPr>
        <p:spPr>
          <a:xfrm>
            <a:off x="311700" y="1152475"/>
            <a:ext cx="494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Quadratics predict that optimization diverges when sharpness exceeds a critical threshold</a:t>
            </a:r>
            <a:endParaRPr/>
          </a:p>
          <a:p>
            <a:pPr indent="0" lvl="0" marL="0" rtl="0" algn="l">
              <a:spcBef>
                <a:spcPts val="1200"/>
              </a:spcBef>
              <a:spcAft>
                <a:spcPts val="0"/>
              </a:spcAft>
              <a:buNone/>
            </a:pPr>
            <a:r>
              <a:rPr lang="en"/>
              <a:t>Modern NNs empirically reduce the sharpness. GD implicitly regularizes sharpness to prevent this from happening</a:t>
            </a:r>
            <a:endParaRPr/>
          </a:p>
          <a:p>
            <a:pPr indent="0" lvl="0" marL="0" rtl="0" algn="l">
              <a:spcBef>
                <a:spcPts val="1200"/>
              </a:spcBef>
              <a:spcAft>
                <a:spcPts val="1200"/>
              </a:spcAft>
              <a:buNone/>
            </a:pPr>
            <a:r>
              <a:rPr lang="en"/>
              <a:t>By tracking time-averaged parameters, we can build the Central Flow which makes the correct empirical predictions</a:t>
            </a:r>
            <a:endParaRPr/>
          </a:p>
        </p:txBody>
      </p:sp>
      <p:pic>
        <p:nvPicPr>
          <p:cNvPr id="272" name="Google Shape;272;p40" title="24-central-flow-loss-curves.gif"/>
          <p:cNvPicPr preferRelativeResize="0"/>
          <p:nvPr/>
        </p:nvPicPr>
        <p:blipFill>
          <a:blip r:embed="rId3">
            <a:alphaModFix/>
          </a:blip>
          <a:stretch>
            <a:fillRect/>
          </a:stretch>
        </p:blipFill>
        <p:spPr>
          <a:xfrm>
            <a:off x="5256600" y="1756513"/>
            <a:ext cx="3797724" cy="18988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Extending EoS to cover modern optimizer modifications</a:t>
            </a:r>
            <a:endParaRPr/>
          </a:p>
        </p:txBody>
      </p:sp>
      <p:sp>
        <p:nvSpPr>
          <p:cNvPr id="278" name="Google Shape;278;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three main missing components from EoS</a:t>
            </a:r>
            <a:endParaRPr/>
          </a:p>
          <a:p>
            <a:pPr indent="-342900" lvl="0" marL="457200" rtl="0" algn="l">
              <a:spcBef>
                <a:spcPts val="1200"/>
              </a:spcBef>
              <a:spcAft>
                <a:spcPts val="0"/>
              </a:spcAft>
              <a:buSzPts val="1800"/>
              <a:buChar char="-"/>
            </a:pPr>
            <a:r>
              <a:rPr lang="en"/>
              <a:t>Momentum</a:t>
            </a:r>
            <a:endParaRPr/>
          </a:p>
          <a:p>
            <a:pPr indent="-342900" lvl="0" marL="457200" rtl="0" algn="l">
              <a:spcBef>
                <a:spcPts val="0"/>
              </a:spcBef>
              <a:spcAft>
                <a:spcPts val="0"/>
              </a:spcAft>
              <a:buSzPts val="1800"/>
              <a:buChar char="-"/>
            </a:pPr>
            <a:r>
              <a:rPr lang="en"/>
              <a:t>Minibatch SGD</a:t>
            </a:r>
            <a:endParaRPr/>
          </a:p>
          <a:p>
            <a:pPr indent="-342900" lvl="0" marL="457200" rtl="0" algn="l">
              <a:spcBef>
                <a:spcPts val="0"/>
              </a:spcBef>
              <a:spcAft>
                <a:spcPts val="0"/>
              </a:spcAft>
              <a:buSzPts val="1800"/>
              <a:buChar char="-"/>
            </a:pPr>
            <a:r>
              <a:rPr lang="en"/>
              <a:t>Adaptive optimizers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Interaction with momentum</a:t>
            </a:r>
            <a:endParaRPr/>
          </a:p>
        </p:txBody>
      </p:sp>
      <p:sp>
        <p:nvSpPr>
          <p:cNvPr id="284" name="Google Shape;284;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momentum, we accumulate the gradient over iterations</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lang="en"/>
              <a:t>v</a:t>
            </a:r>
            <a:r>
              <a:rPr baseline="-25000" lang="en"/>
              <a:t>t+1</a:t>
            </a:r>
            <a:r>
              <a:rPr lang="en"/>
              <a:t> = </a:t>
            </a:r>
            <a:r>
              <a:rPr lang="en"/>
              <a:t>𝛽v</a:t>
            </a:r>
            <a:r>
              <a:rPr baseline="-25000" lang="en"/>
              <a:t>t </a:t>
            </a:r>
            <a:r>
              <a:rPr lang="en"/>
              <a:t> + </a:t>
            </a:r>
            <a:r>
              <a:rPr lang="en"/>
              <a:t>g</a:t>
            </a:r>
            <a:r>
              <a:rPr baseline="-25000" lang="en"/>
              <a:t>t</a:t>
            </a:r>
            <a:r>
              <a:rPr lang="en"/>
              <a:t>			w</a:t>
            </a:r>
            <a:r>
              <a:rPr baseline="-25000" lang="en"/>
              <a:t>t</a:t>
            </a:r>
            <a:r>
              <a:rPr lang="en"/>
              <a:t> = w</a:t>
            </a:r>
            <a:r>
              <a:rPr baseline="-25000" lang="en"/>
              <a:t>t</a:t>
            </a:r>
            <a:r>
              <a:rPr lang="en"/>
              <a:t> - ηv</a:t>
            </a:r>
            <a:r>
              <a:rPr baseline="-25000" lang="en"/>
              <a:t>t+1</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To reason about the sharpness, we need to reason about the maximum stable LR</a:t>
            </a:r>
            <a:endParaRPr/>
          </a:p>
          <a:p>
            <a:pPr indent="0" lvl="0" marL="0" rtl="0" algn="l">
              <a:spcBef>
                <a:spcPts val="1200"/>
              </a:spcBef>
              <a:spcAft>
                <a:spcPts val="1200"/>
              </a:spcAft>
              <a:buNone/>
            </a:pPr>
            <a:r>
              <a:t/>
            </a:r>
            <a:endParaRPr/>
          </a:p>
        </p:txBody>
      </p:sp>
      <p:sp>
        <p:nvSpPr>
          <p:cNvPr id="285" name="Google Shape;285;p4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A Walk with SGD</a:t>
            </a:r>
            <a:endParaRPr sz="1000">
              <a:solidFill>
                <a:schemeClr val="dk1"/>
              </a:solidFill>
              <a:latin typeface="Palatino"/>
              <a:ea typeface="Palatino"/>
              <a:cs typeface="Palatino"/>
              <a:sym typeface="Palatino"/>
            </a:endParaRPr>
          </a:p>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Interaction with momentum</a:t>
            </a:r>
            <a:endParaRPr/>
          </a:p>
        </p:txBody>
      </p:sp>
      <p:sp>
        <p:nvSpPr>
          <p:cNvPr id="291" name="Google Shape;291;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quadratics, if we have full batch, the gradients take us from wall to wall. In this regime gradients accumulate like</a:t>
            </a:r>
            <a:endParaRPr/>
          </a:p>
          <a:p>
            <a:pPr indent="0" lvl="0" marL="0" rtl="0" algn="ctr">
              <a:spcBef>
                <a:spcPts val="1200"/>
              </a:spcBef>
              <a:spcAft>
                <a:spcPts val="0"/>
              </a:spcAft>
              <a:buNone/>
            </a:pPr>
            <a:r>
              <a:rPr lang="en"/>
              <a:t>g</a:t>
            </a:r>
            <a:r>
              <a:rPr baseline="-25000" lang="en"/>
              <a:t>t</a:t>
            </a:r>
            <a:r>
              <a:rPr lang="en"/>
              <a:t> + 𝛽g</a:t>
            </a:r>
            <a:r>
              <a:rPr baseline="-25000" lang="en"/>
              <a:t>t-1</a:t>
            </a:r>
            <a:r>
              <a:rPr lang="en"/>
              <a:t> + 𝛽</a:t>
            </a:r>
            <a:r>
              <a:rPr baseline="30000" lang="en"/>
              <a:t>2</a:t>
            </a:r>
            <a:r>
              <a:rPr lang="en"/>
              <a:t>g</a:t>
            </a:r>
            <a:r>
              <a:rPr baseline="-25000" lang="en"/>
              <a:t>t-2</a:t>
            </a:r>
            <a:r>
              <a:rPr lang="en"/>
              <a:t> + 𝛽</a:t>
            </a:r>
            <a:r>
              <a:rPr baseline="30000" lang="en"/>
              <a:t>3</a:t>
            </a:r>
            <a:r>
              <a:rPr lang="en"/>
              <a:t>g</a:t>
            </a:r>
            <a:r>
              <a:rPr baseline="-25000" lang="en"/>
              <a:t>t-3</a:t>
            </a:r>
            <a:r>
              <a:rPr lang="en"/>
              <a:t> + … ≈ g - 𝛽g + 𝛽</a:t>
            </a:r>
            <a:r>
              <a:rPr baseline="30000" lang="en"/>
              <a:t>2</a:t>
            </a:r>
            <a:r>
              <a:rPr lang="en"/>
              <a:t>g - 𝛽</a:t>
            </a:r>
            <a:r>
              <a:rPr baseline="30000" lang="en"/>
              <a:t>3</a:t>
            </a:r>
            <a:r>
              <a:rPr lang="en"/>
              <a:t>g + … = g / (1 + 𝛽)</a:t>
            </a:r>
            <a:endParaRPr/>
          </a:p>
          <a:p>
            <a:pPr indent="0" lvl="0" marL="0" rtl="0" algn="l">
              <a:spcBef>
                <a:spcPts val="1200"/>
              </a:spcBef>
              <a:spcAft>
                <a:spcPts val="1200"/>
              </a:spcAft>
              <a:buNone/>
            </a:pPr>
            <a:r>
              <a:rPr lang="en"/>
              <a:t>Therefore, for the same learning rate, sharpness increases by a factor of 1 + 𝛽 </a:t>
            </a:r>
            <a:endParaRPr/>
          </a:p>
        </p:txBody>
      </p:sp>
      <p:sp>
        <p:nvSpPr>
          <p:cNvPr id="292" name="Google Shape;292;p4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A Walk with SGD</a:t>
            </a:r>
            <a:endParaRPr sz="1000">
              <a:solidFill>
                <a:schemeClr val="dk1"/>
              </a:solidFill>
              <a:latin typeface="Palatino"/>
              <a:ea typeface="Palatino"/>
              <a:cs typeface="Palatino"/>
              <a:sym typeface="Palatino"/>
            </a:endParaRPr>
          </a:p>
          <a:p>
            <a:pPr indent="0" lvl="0" marL="0" rtl="0" algn="r">
              <a:spcBef>
                <a:spcPts val="0"/>
              </a:spcBef>
              <a:spcAft>
                <a:spcPts val="0"/>
              </a:spcAft>
              <a:buNone/>
            </a:pPr>
            <a:r>
              <a:rPr lang="en" sz="1000">
                <a:solidFill>
                  <a:schemeClr val="dk1"/>
                </a:solidFill>
                <a:latin typeface="Palatino"/>
                <a:ea typeface="Palatino"/>
                <a:cs typeface="Palatino"/>
                <a:sym typeface="Palatino"/>
              </a:rPr>
              <a:t>Gradient Descent on Neural Networks Typically Occurs at the Edge of Stability</a:t>
            </a:r>
            <a:endParaRPr sz="1000">
              <a:solidFill>
                <a:schemeClr val="dk1"/>
              </a:solidFill>
              <a:latin typeface="Palatino"/>
              <a:ea typeface="Palatino"/>
              <a:cs typeface="Palatino"/>
              <a:sym typeface="Palatino"/>
            </a:endParaRPr>
          </a:p>
        </p:txBody>
      </p:sp>
      <p:pic>
        <p:nvPicPr>
          <p:cNvPr id="293" name="Google Shape;293;p43"/>
          <p:cNvPicPr preferRelativeResize="0"/>
          <p:nvPr/>
        </p:nvPicPr>
        <p:blipFill rotWithShape="1">
          <a:blip r:embed="rId3">
            <a:alphaModFix/>
          </a:blip>
          <a:srcRect b="52038" l="0" r="0" t="0"/>
          <a:stretch/>
        </p:blipFill>
        <p:spPr>
          <a:xfrm>
            <a:off x="2662275" y="3290900"/>
            <a:ext cx="3819449" cy="1501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Interaction with batch size</a:t>
            </a:r>
            <a:endParaRPr/>
          </a:p>
        </p:txBody>
      </p:sp>
      <p:sp>
        <p:nvSpPr>
          <p:cNvPr id="299" name="Google Shape;29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minibatch, recall from River Valley that the minibatch regime is noise dominated, with gradient directions being close to independent. This results in the gradients accumulating differently</a:t>
            </a:r>
            <a:endParaRPr/>
          </a:p>
          <a:p>
            <a:pPr indent="457200" lvl="0" marL="1371600" rtl="0" algn="l">
              <a:spcBef>
                <a:spcPts val="1200"/>
              </a:spcBef>
              <a:spcAft>
                <a:spcPts val="0"/>
              </a:spcAft>
              <a:buNone/>
            </a:pPr>
            <a:r>
              <a:rPr lang="en"/>
              <a:t>Var(g) = Var(</a:t>
            </a:r>
            <a:r>
              <a:rPr lang="en"/>
              <a:t>g</a:t>
            </a:r>
            <a:r>
              <a:rPr baseline="-25000" lang="en"/>
              <a:t>t</a:t>
            </a:r>
            <a:r>
              <a:rPr lang="en"/>
              <a:t> + 𝛽g</a:t>
            </a:r>
            <a:r>
              <a:rPr baseline="-25000" lang="en"/>
              <a:t>t-1</a:t>
            </a:r>
            <a:r>
              <a:rPr lang="en"/>
              <a:t> + 𝛽</a:t>
            </a:r>
            <a:r>
              <a:rPr baseline="30000" lang="en"/>
              <a:t>2</a:t>
            </a:r>
            <a:r>
              <a:rPr lang="en"/>
              <a:t>g</a:t>
            </a:r>
            <a:r>
              <a:rPr baseline="-25000" lang="en"/>
              <a:t>t-2</a:t>
            </a:r>
            <a:r>
              <a:rPr lang="en"/>
              <a:t> + 𝛽</a:t>
            </a:r>
            <a:r>
              <a:rPr baseline="30000" lang="en"/>
              <a:t>3</a:t>
            </a:r>
            <a:r>
              <a:rPr lang="en"/>
              <a:t>g</a:t>
            </a:r>
            <a:r>
              <a:rPr baseline="-25000" lang="en"/>
              <a:t>t-3</a:t>
            </a:r>
            <a:r>
              <a:rPr lang="en"/>
              <a:t> + …)</a:t>
            </a:r>
            <a:br>
              <a:rPr lang="en"/>
            </a:br>
            <a:r>
              <a:rPr lang="en"/>
              <a:t>	            ≈ Var(g</a:t>
            </a:r>
            <a:r>
              <a:rPr baseline="-25000" lang="en"/>
              <a:t>t</a:t>
            </a:r>
            <a:r>
              <a:rPr lang="en"/>
              <a:t>) + Var(𝛽g</a:t>
            </a:r>
            <a:r>
              <a:rPr baseline="-25000" lang="en"/>
              <a:t>t-1</a:t>
            </a:r>
            <a:r>
              <a:rPr lang="en"/>
              <a:t>) + Var(𝛽</a:t>
            </a:r>
            <a:r>
              <a:rPr baseline="30000" lang="en"/>
              <a:t>2</a:t>
            </a:r>
            <a:r>
              <a:rPr lang="en"/>
              <a:t>g</a:t>
            </a:r>
            <a:r>
              <a:rPr baseline="-25000" lang="en"/>
              <a:t>t-2</a:t>
            </a:r>
            <a:r>
              <a:rPr lang="en"/>
              <a:t>) + Var(𝛽</a:t>
            </a:r>
            <a:r>
              <a:rPr baseline="30000" lang="en"/>
              <a:t>3</a:t>
            </a:r>
            <a:r>
              <a:rPr lang="en"/>
              <a:t>g</a:t>
            </a:r>
            <a:r>
              <a:rPr baseline="-25000" lang="en"/>
              <a:t>t-3</a:t>
            </a:r>
            <a:r>
              <a:rPr lang="en"/>
              <a:t>) + … </a:t>
            </a:r>
            <a:br>
              <a:rPr lang="en"/>
            </a:br>
            <a:r>
              <a:rPr lang="en"/>
              <a:t>                    = Var(g) / (1 - 𝛽)</a:t>
            </a:r>
            <a:endParaRPr/>
          </a:p>
          <a:p>
            <a:pPr indent="0" lvl="0" marL="0" rtl="0" algn="l">
              <a:spcBef>
                <a:spcPts val="1200"/>
              </a:spcBef>
              <a:spcAft>
                <a:spcPts val="1200"/>
              </a:spcAft>
              <a:buNone/>
            </a:pPr>
            <a:r>
              <a:t/>
            </a:r>
            <a:endParaRPr/>
          </a:p>
        </p:txBody>
      </p:sp>
      <p:sp>
        <p:nvSpPr>
          <p:cNvPr id="300" name="Google Shape;300;p44"/>
          <p:cNvSpPr txBox="1"/>
          <p:nvPr/>
        </p:nvSpPr>
        <p:spPr>
          <a:xfrm>
            <a:off x="0" y="4657589"/>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Momentum Further Constrains Sharpness at the Edge of Stochastic Stability</a:t>
            </a:r>
            <a:endParaRPr sz="1000">
              <a:solidFill>
                <a:schemeClr val="dk1"/>
              </a:solidFill>
              <a:latin typeface="Palatino"/>
              <a:ea typeface="Palatino"/>
              <a:cs typeface="Palatino"/>
              <a:sym typeface="Palatino"/>
            </a:endParaRPr>
          </a:p>
        </p:txBody>
      </p:sp>
      <p:pic>
        <p:nvPicPr>
          <p:cNvPr id="301" name="Google Shape;301;p44"/>
          <p:cNvPicPr preferRelativeResize="0"/>
          <p:nvPr/>
        </p:nvPicPr>
        <p:blipFill rotWithShape="1">
          <a:blip r:embed="rId3">
            <a:alphaModFix/>
          </a:blip>
          <a:srcRect b="52041" l="0" r="0" t="0"/>
          <a:stretch/>
        </p:blipFill>
        <p:spPr>
          <a:xfrm>
            <a:off x="2773437" y="3382625"/>
            <a:ext cx="3597126" cy="139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Interaction with momentum</a:t>
            </a:r>
            <a:endParaRPr/>
          </a:p>
        </p:txBody>
      </p:sp>
      <p:sp>
        <p:nvSpPr>
          <p:cNvPr id="307" name="Google Shape;307;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Therefore, we have two regimes: large batch where momentum increases sharpness and small batch where momentum decreases sharpness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Refer to </a:t>
            </a:r>
            <a:r>
              <a:rPr lang="en" u="sng">
                <a:solidFill>
                  <a:schemeClr val="accent6"/>
                </a:solidFill>
                <a:hlinkClick r:id="rId3">
                  <a:extLst>
                    <a:ext uri="{A12FA001-AC4F-418D-AE19-62706E023703}">
                      <ahyp:hlinkClr val="tx"/>
                    </a:ext>
                  </a:extLst>
                </a:hlinkClick>
              </a:rPr>
              <a:t>Andreyev et al, 2026</a:t>
            </a:r>
            <a:r>
              <a:rPr lang="en"/>
              <a:t> for an analysis of momentum and </a:t>
            </a:r>
            <a:r>
              <a:rPr lang="en" u="sng">
                <a:solidFill>
                  <a:schemeClr val="accent6"/>
                </a:solidFill>
                <a:hlinkClick r:id="rId4">
                  <a:extLst>
                    <a:ext uri="{A12FA001-AC4F-418D-AE19-62706E023703}">
                      <ahyp:hlinkClr val="tx"/>
                    </a:ext>
                  </a:extLst>
                </a:hlinkClick>
              </a:rPr>
              <a:t>Song et al, 2026</a:t>
            </a:r>
            <a:r>
              <a:rPr lang="en"/>
              <a:t> for an analysis of EoS with noise from zeroth order optimization</a:t>
            </a:r>
            <a:endParaRPr/>
          </a:p>
        </p:txBody>
      </p:sp>
      <p:sp>
        <p:nvSpPr>
          <p:cNvPr id="308" name="Google Shape;308;p45"/>
          <p:cNvSpPr txBox="1"/>
          <p:nvPr/>
        </p:nvSpPr>
        <p:spPr>
          <a:xfrm>
            <a:off x="0" y="4657589"/>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Momentum Further Constrains Sharpness at the Edge of Stochastic Stability</a:t>
            </a:r>
            <a:endParaRPr sz="1000">
              <a:solidFill>
                <a:schemeClr val="dk1"/>
              </a:solidFill>
              <a:latin typeface="Palatino"/>
              <a:ea typeface="Palatino"/>
              <a:cs typeface="Palatino"/>
              <a:sym typeface="Palatino"/>
            </a:endParaRPr>
          </a:p>
        </p:txBody>
      </p:sp>
      <p:pic>
        <p:nvPicPr>
          <p:cNvPr id="309" name="Google Shape;309;p45"/>
          <p:cNvPicPr preferRelativeResize="0"/>
          <p:nvPr/>
        </p:nvPicPr>
        <p:blipFill>
          <a:blip r:embed="rId5">
            <a:alphaModFix/>
          </a:blip>
          <a:stretch>
            <a:fillRect/>
          </a:stretch>
        </p:blipFill>
        <p:spPr>
          <a:xfrm>
            <a:off x="1817791" y="1860076"/>
            <a:ext cx="5508434" cy="1847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15" name="Google Shape;315;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Finally, we would like our analysis to extend past SGD</a:t>
            </a:r>
            <a:endParaRPr/>
          </a:p>
          <a:p>
            <a:pPr indent="0" lvl="0" marL="0" rtl="0" algn="l">
              <a:spcBef>
                <a:spcPts val="1200"/>
              </a:spcBef>
              <a:spcAft>
                <a:spcPts val="0"/>
              </a:spcAft>
              <a:buNone/>
            </a:pPr>
            <a:r>
              <a:rPr lang="en"/>
              <a:t>We’ll start by studying a simple adaptive optimizer Scalar RMSProp</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is Adam without momentum and without per-parameter adaptivity. We will see how this update adapts to the loss curvature</a:t>
            </a:r>
            <a:endParaRPr/>
          </a:p>
        </p:txBody>
      </p:sp>
      <p:sp>
        <p:nvSpPr>
          <p:cNvPr id="316" name="Google Shape;316;p4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17" name="Google Shape;317;p46"/>
          <p:cNvPicPr preferRelativeResize="0"/>
          <p:nvPr/>
        </p:nvPicPr>
        <p:blipFill>
          <a:blip r:embed="rId3">
            <a:alphaModFix/>
          </a:blip>
          <a:stretch>
            <a:fillRect/>
          </a:stretch>
        </p:blipFill>
        <p:spPr>
          <a:xfrm>
            <a:off x="2050350" y="2161299"/>
            <a:ext cx="5043302" cy="820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23" name="Google Shape;32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Under Scalar RMSProp, the step size should instead be thought of as η / √𝜈</a:t>
            </a:r>
            <a:r>
              <a:rPr baseline="-25000" lang="en"/>
              <a:t>t</a:t>
            </a:r>
            <a:endParaRPr/>
          </a:p>
          <a:p>
            <a:pPr indent="0" lvl="0" marL="0" rtl="0" algn="l">
              <a:spcBef>
                <a:spcPts val="1200"/>
              </a:spcBef>
              <a:spcAft>
                <a:spcPts val="0"/>
              </a:spcAft>
              <a:buNone/>
            </a:pPr>
            <a:r>
              <a:rPr lang="en"/>
              <a:t>Therefore, we expect oscillation whenever sharpness S exceeds </a:t>
            </a:r>
            <a:r>
              <a:rPr lang="en"/>
              <a:t>2√𝜈</a:t>
            </a:r>
            <a:r>
              <a:rPr baseline="-25000" lang="en"/>
              <a:t>t</a:t>
            </a:r>
            <a:r>
              <a:rPr lang="en"/>
              <a:t> / η</a:t>
            </a:r>
            <a:endParaRPr/>
          </a:p>
          <a:p>
            <a:pPr indent="0" lvl="0" marL="0" rtl="0" algn="l">
              <a:spcBef>
                <a:spcPts val="1200"/>
              </a:spcBef>
              <a:spcAft>
                <a:spcPts val="1200"/>
              </a:spcAft>
              <a:buNone/>
            </a:pPr>
            <a:r>
              <a:rPr lang="en"/>
              <a:t>This motivates an effective sharpness, ηS / √𝜈</a:t>
            </a:r>
            <a:r>
              <a:rPr baseline="-25000" lang="en"/>
              <a:t>t</a:t>
            </a:r>
            <a:r>
              <a:rPr lang="en"/>
              <a:t>, which should stabilize around 2</a:t>
            </a:r>
            <a:endParaRPr/>
          </a:p>
        </p:txBody>
      </p:sp>
      <p:sp>
        <p:nvSpPr>
          <p:cNvPr id="324" name="Google Shape;324;p4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25" name="Google Shape;325;p47"/>
          <p:cNvPicPr preferRelativeResize="0"/>
          <p:nvPr/>
        </p:nvPicPr>
        <p:blipFill>
          <a:blip r:embed="rId3">
            <a:alphaModFix/>
          </a:blip>
          <a:stretch>
            <a:fillRect/>
          </a:stretch>
        </p:blipFill>
        <p:spPr>
          <a:xfrm>
            <a:off x="1852137" y="1069250"/>
            <a:ext cx="5439724" cy="885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31" name="Google Shape;331;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Indeed, the effective </a:t>
            </a:r>
            <a:br>
              <a:rPr lang="en"/>
            </a:br>
            <a:r>
              <a:rPr lang="en"/>
              <a:t>sharpness does display the </a:t>
            </a:r>
            <a:br>
              <a:rPr lang="en"/>
            </a:br>
            <a:r>
              <a:rPr lang="en"/>
              <a:t>Edge of Stability empirically</a:t>
            </a:r>
            <a:endParaRPr/>
          </a:p>
        </p:txBody>
      </p:sp>
      <p:sp>
        <p:nvSpPr>
          <p:cNvPr id="332" name="Google Shape;332;p4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33" name="Google Shape;333;p48" title="part2-02-scalar-rmsprop-effective-sharpness.gif"/>
          <p:cNvPicPr preferRelativeResize="0"/>
          <p:nvPr/>
        </p:nvPicPr>
        <p:blipFill>
          <a:blip r:embed="rId3">
            <a:alphaModFix/>
          </a:blip>
          <a:stretch>
            <a:fillRect/>
          </a:stretch>
        </p:blipFill>
        <p:spPr>
          <a:xfrm>
            <a:off x="3415000" y="445025"/>
            <a:ext cx="5505624" cy="412921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39" name="Google Shape;339;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Self-stabilization of effective sharpness in RMSProp happens for two reasons</a:t>
            </a:r>
            <a:endParaRPr/>
          </a:p>
          <a:p>
            <a:pPr indent="-342900" lvl="0" marL="457200" rtl="0" algn="l">
              <a:spcBef>
                <a:spcPts val="1200"/>
              </a:spcBef>
              <a:spcAft>
                <a:spcPts val="0"/>
              </a:spcAft>
              <a:buSzPts val="1800"/>
              <a:buAutoNum type="arabicParenR"/>
            </a:pPr>
            <a:r>
              <a:rPr lang="en"/>
              <a:t>Similar to gradient descent, oscillations automatically reduce sharpness</a:t>
            </a:r>
            <a:endParaRPr/>
          </a:p>
          <a:p>
            <a:pPr indent="-342900" lvl="0" marL="457200" rtl="0" algn="l">
              <a:spcBef>
                <a:spcPts val="0"/>
              </a:spcBef>
              <a:spcAft>
                <a:spcPts val="0"/>
              </a:spcAft>
              <a:buSzPts val="1800"/>
              <a:buAutoNum type="arabicParenR"/>
            </a:pPr>
            <a:r>
              <a:rPr lang="en"/>
              <a:t>In addition, oscillations increase the gradient norm, causing </a:t>
            </a:r>
            <a:r>
              <a:rPr lang="en"/>
              <a:t>𝜈</a:t>
            </a:r>
            <a:r>
              <a:rPr baseline="-25000" lang="en"/>
              <a:t>t</a:t>
            </a:r>
            <a:r>
              <a:rPr lang="en"/>
              <a:t> to grow, reducing the effective sharpness η / √𝜈</a:t>
            </a:r>
            <a:r>
              <a:rPr baseline="-25000" lang="en"/>
              <a:t>t </a:t>
            </a:r>
            <a:r>
              <a:rPr lang="en"/>
              <a:t>via the denominator (not the numerator) </a:t>
            </a:r>
            <a:endParaRPr/>
          </a:p>
        </p:txBody>
      </p:sp>
      <p:sp>
        <p:nvSpPr>
          <p:cNvPr id="340" name="Google Shape;340;p4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41" name="Google Shape;341;p49" title="part2-03-scalar-rmsprop-eos-zoom.gif"/>
          <p:cNvPicPr preferRelativeResize="0"/>
          <p:nvPr/>
        </p:nvPicPr>
        <p:blipFill>
          <a:blip r:embed="rId3">
            <a:alphaModFix/>
          </a:blip>
          <a:stretch>
            <a:fillRect/>
          </a:stretch>
        </p:blipFill>
        <p:spPr>
          <a:xfrm>
            <a:off x="2426013" y="2721950"/>
            <a:ext cx="4291974" cy="2145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47" name="Google Shape;347;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High 𝛽</a:t>
            </a:r>
            <a:r>
              <a:rPr baseline="-25000" lang="en"/>
              <a:t>2</a:t>
            </a:r>
            <a:r>
              <a:rPr lang="en"/>
              <a:t> implies that </a:t>
            </a:r>
            <a:r>
              <a:rPr lang="en"/>
              <a:t>𝜈</a:t>
            </a:r>
            <a:r>
              <a:rPr baseline="-25000" lang="en"/>
              <a:t>t</a:t>
            </a:r>
            <a:r>
              <a:rPr lang="en"/>
              <a:t> will update slower, self-stabilization will happen slower, and the effective sharpness will come more from sharpness reduction, not </a:t>
            </a:r>
            <a:r>
              <a:rPr lang="en"/>
              <a:t>𝜈</a:t>
            </a:r>
            <a:r>
              <a:rPr baseline="-25000" lang="en"/>
              <a:t>t</a:t>
            </a:r>
            <a:r>
              <a:rPr lang="en"/>
              <a:t> growth</a:t>
            </a:r>
            <a:endParaRPr/>
          </a:p>
        </p:txBody>
      </p:sp>
      <p:sp>
        <p:nvSpPr>
          <p:cNvPr id="348" name="Google Shape;348;p50"/>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49" name="Google Shape;349;p50" title="part2-04-scalar-rmsprop-eos-zoom2.gif"/>
          <p:cNvPicPr preferRelativeResize="0"/>
          <p:nvPr/>
        </p:nvPicPr>
        <p:blipFill>
          <a:blip r:embed="rId3">
            <a:alphaModFix/>
          </a:blip>
          <a:stretch>
            <a:fillRect/>
          </a:stretch>
        </p:blipFill>
        <p:spPr>
          <a:xfrm>
            <a:off x="1786625" y="1964175"/>
            <a:ext cx="5570751" cy="27853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55" name="Google Shape;35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the long run, high 𝛽</a:t>
            </a:r>
            <a:r>
              <a:rPr baseline="-25000" lang="en"/>
              <a:t>2</a:t>
            </a:r>
            <a:r>
              <a:rPr lang="en"/>
              <a:t> in the long term will result in lower sharpness and </a:t>
            </a:r>
            <a:r>
              <a:rPr lang="en"/>
              <a:t>lower</a:t>
            </a:r>
            <a:r>
              <a:rPr lang="en"/>
              <a:t> </a:t>
            </a:r>
            <a:r>
              <a:rPr lang="en"/>
              <a:t>𝜈</a:t>
            </a:r>
            <a:r>
              <a:rPr baseline="-25000" lang="en"/>
              <a:t>t</a:t>
            </a:r>
            <a:r>
              <a:rPr lang="en"/>
              <a:t> for</a:t>
            </a:r>
            <a:r>
              <a:rPr lang="en"/>
              <a:t> the same effective sharpness</a:t>
            </a:r>
            <a:endParaRPr/>
          </a:p>
        </p:txBody>
      </p:sp>
      <p:sp>
        <p:nvSpPr>
          <p:cNvPr id="356" name="Google Shape;356;p51"/>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57" name="Google Shape;357;p51" title="part2-05-scalar-rmsprop-diff-beta2.gif"/>
          <p:cNvPicPr preferRelativeResize="0"/>
          <p:nvPr/>
        </p:nvPicPr>
        <p:blipFill>
          <a:blip r:embed="rId3">
            <a:alphaModFix/>
          </a:blip>
          <a:stretch>
            <a:fillRect/>
          </a:stretch>
        </p:blipFill>
        <p:spPr>
          <a:xfrm>
            <a:off x="274213" y="2139250"/>
            <a:ext cx="8595576" cy="21489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63" name="Google Shape;363;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 to gradient flow, we can write down the stable flow for Scalar RMSProp</a:t>
            </a:r>
            <a:endParaRPr/>
          </a:p>
        </p:txBody>
      </p:sp>
      <p:sp>
        <p:nvSpPr>
          <p:cNvPr id="364" name="Google Shape;364;p5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65" name="Google Shape;365;p52" title="part2-07-scalar-rmsprop-stable.gif"/>
          <p:cNvPicPr preferRelativeResize="0"/>
          <p:nvPr/>
        </p:nvPicPr>
        <p:blipFill>
          <a:blip r:embed="rId3">
            <a:alphaModFix/>
          </a:blip>
          <a:stretch>
            <a:fillRect/>
          </a:stretch>
        </p:blipFill>
        <p:spPr>
          <a:xfrm>
            <a:off x="406875" y="2604100"/>
            <a:ext cx="8330226" cy="2082550"/>
          </a:xfrm>
          <a:prstGeom prst="rect">
            <a:avLst/>
          </a:prstGeom>
          <a:noFill/>
          <a:ln>
            <a:noFill/>
          </a:ln>
        </p:spPr>
      </p:pic>
      <p:pic>
        <p:nvPicPr>
          <p:cNvPr id="366" name="Google Shape;366;p52"/>
          <p:cNvPicPr preferRelativeResize="0"/>
          <p:nvPr/>
        </p:nvPicPr>
        <p:blipFill>
          <a:blip r:embed="rId4">
            <a:alphaModFix/>
          </a:blip>
          <a:stretch>
            <a:fillRect/>
          </a:stretch>
        </p:blipFill>
        <p:spPr>
          <a:xfrm>
            <a:off x="2046486" y="1646575"/>
            <a:ext cx="5051025" cy="7624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72" name="Google Shape;372;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derive a central flow for Scalar RMSProp, we can repeat the GD derivation</a:t>
            </a:r>
            <a:br>
              <a:rPr lang="en"/>
            </a:br>
            <a:br>
              <a:rPr lang="en"/>
            </a:br>
            <a:r>
              <a:rPr lang="en"/>
              <a:t>Time-averaged gradient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Approximate gradient norm</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Final prediction </a:t>
            </a:r>
            <a:br>
              <a:rPr lang="en"/>
            </a:br>
            <a:r>
              <a:rPr lang="en"/>
              <a:t>for central flow</a:t>
            </a:r>
            <a:endParaRPr/>
          </a:p>
        </p:txBody>
      </p:sp>
      <p:sp>
        <p:nvSpPr>
          <p:cNvPr id="373" name="Google Shape;373;p5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74" name="Google Shape;374;p53"/>
          <p:cNvPicPr preferRelativeResize="0"/>
          <p:nvPr/>
        </p:nvPicPr>
        <p:blipFill>
          <a:blip r:embed="rId3">
            <a:alphaModFix/>
          </a:blip>
          <a:stretch>
            <a:fillRect/>
          </a:stretch>
        </p:blipFill>
        <p:spPr>
          <a:xfrm>
            <a:off x="4009737" y="1665250"/>
            <a:ext cx="4320449" cy="821700"/>
          </a:xfrm>
          <a:prstGeom prst="rect">
            <a:avLst/>
          </a:prstGeom>
          <a:noFill/>
          <a:ln>
            <a:noFill/>
          </a:ln>
        </p:spPr>
      </p:pic>
      <p:pic>
        <p:nvPicPr>
          <p:cNvPr id="375" name="Google Shape;375;p53"/>
          <p:cNvPicPr preferRelativeResize="0"/>
          <p:nvPr/>
        </p:nvPicPr>
        <p:blipFill>
          <a:blip r:embed="rId4">
            <a:alphaModFix/>
          </a:blip>
          <a:stretch>
            <a:fillRect/>
          </a:stretch>
        </p:blipFill>
        <p:spPr>
          <a:xfrm>
            <a:off x="3556084" y="2621079"/>
            <a:ext cx="5227778" cy="821700"/>
          </a:xfrm>
          <a:prstGeom prst="rect">
            <a:avLst/>
          </a:prstGeom>
          <a:noFill/>
          <a:ln>
            <a:noFill/>
          </a:ln>
        </p:spPr>
      </p:pic>
      <p:pic>
        <p:nvPicPr>
          <p:cNvPr id="376" name="Google Shape;376;p53"/>
          <p:cNvPicPr preferRelativeResize="0"/>
          <p:nvPr/>
        </p:nvPicPr>
        <p:blipFill>
          <a:blip r:embed="rId5">
            <a:alphaModFix/>
          </a:blip>
          <a:stretch>
            <a:fillRect/>
          </a:stretch>
        </p:blipFill>
        <p:spPr>
          <a:xfrm>
            <a:off x="2442449" y="3635973"/>
            <a:ext cx="6389857" cy="93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82" name="Google Shape;38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Similar to GD, there is a unique choice of variance schedule that works. It makes excellent empirical predictions!</a:t>
            </a:r>
            <a:endParaRPr/>
          </a:p>
        </p:txBody>
      </p:sp>
      <p:sp>
        <p:nvSpPr>
          <p:cNvPr id="383" name="Google Shape;383;p54"/>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84" name="Google Shape;384;p54" title="part2-08-scalar-rmsprop-central-flow-diff-beta2.gif"/>
          <p:cNvPicPr preferRelativeResize="0"/>
          <p:nvPr/>
        </p:nvPicPr>
        <p:blipFill>
          <a:blip r:embed="rId3">
            <a:alphaModFix/>
          </a:blip>
          <a:stretch>
            <a:fillRect/>
          </a:stretch>
        </p:blipFill>
        <p:spPr>
          <a:xfrm>
            <a:off x="311700" y="2133900"/>
            <a:ext cx="8520600" cy="21301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90" name="Google Shape;39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 the course of training for Scalar RMSProp, the effective sharpness stays stable at 2, the sharpness grows, and the effective step size decreases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Therefore, scalar RMSProp manages to keep the effective step size automatically </a:t>
            </a:r>
            <a:r>
              <a:rPr lang="en"/>
              <a:t>balanced</a:t>
            </a:r>
            <a:r>
              <a:rPr lang="en"/>
              <a:t> at 2 / S without explicitly computing the sharpness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is one precise sense in which RMSProp </a:t>
            </a:r>
            <a:r>
              <a:rPr i="1" lang="en"/>
              <a:t>adapts</a:t>
            </a:r>
            <a:r>
              <a:rPr lang="en"/>
              <a:t> to the loss landscape</a:t>
            </a:r>
            <a:endParaRPr/>
          </a:p>
        </p:txBody>
      </p:sp>
      <p:sp>
        <p:nvSpPr>
          <p:cNvPr id="391" name="Google Shape;391;p55"/>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397" name="Google Shape;397;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Is this the only benefit of an adaptive optimizer? No, there is an additional effect from sharpness reduction that happens every oscillation</a:t>
            </a:r>
            <a:endParaRPr/>
          </a:p>
          <a:p>
            <a:pPr indent="0" lvl="0" marL="0" rtl="0" algn="l">
              <a:spcBef>
                <a:spcPts val="1200"/>
              </a:spcBef>
              <a:spcAft>
                <a:spcPts val="0"/>
              </a:spcAft>
              <a:buNone/>
            </a:pPr>
            <a:r>
              <a:rPr lang="en"/>
              <a:t>At EoS, </a:t>
            </a:r>
            <a:r>
              <a:rPr lang="en"/>
              <a:t>𝜈</a:t>
            </a:r>
            <a:r>
              <a:rPr baseline="-25000" lang="en"/>
              <a:t>t</a:t>
            </a:r>
            <a:r>
              <a:rPr lang="en"/>
              <a:t> stabilizes so we can analyze only how the parameter evolves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 addition to adapting the step size, we also reduce sharpness. With larger learning rates, we face more oscillation, and result in reduced sharpness</a:t>
            </a:r>
            <a:endParaRPr/>
          </a:p>
        </p:txBody>
      </p:sp>
      <p:sp>
        <p:nvSpPr>
          <p:cNvPr id="398" name="Google Shape;398;p5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399" name="Google Shape;399;p56"/>
          <p:cNvPicPr preferRelativeResize="0"/>
          <p:nvPr/>
        </p:nvPicPr>
        <p:blipFill>
          <a:blip r:embed="rId3">
            <a:alphaModFix/>
          </a:blip>
          <a:stretch>
            <a:fillRect/>
          </a:stretch>
        </p:blipFill>
        <p:spPr>
          <a:xfrm>
            <a:off x="1891325" y="2409044"/>
            <a:ext cx="5038425" cy="1093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405" name="Google Shape;405;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can ablate the effects of the sharpness regularization by simulating a flow that’s missing the sharpness regularization term. Note how Scalar RMSProp reduces the sharpness, increases effective step size, and accelerates convergence</a:t>
            </a:r>
            <a:endParaRPr/>
          </a:p>
        </p:txBody>
      </p:sp>
      <p:sp>
        <p:nvSpPr>
          <p:cNvPr id="406" name="Google Shape;406;p5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07" name="Google Shape;407;p57"/>
          <p:cNvPicPr preferRelativeResize="0"/>
          <p:nvPr/>
        </p:nvPicPr>
        <p:blipFill>
          <a:blip r:embed="rId3">
            <a:alphaModFix/>
          </a:blip>
          <a:stretch>
            <a:fillRect/>
          </a:stretch>
        </p:blipFill>
        <p:spPr>
          <a:xfrm>
            <a:off x="4456675" y="2237543"/>
            <a:ext cx="3080450" cy="668408"/>
          </a:xfrm>
          <a:prstGeom prst="rect">
            <a:avLst/>
          </a:prstGeom>
          <a:noFill/>
          <a:ln>
            <a:noFill/>
          </a:ln>
        </p:spPr>
      </p:pic>
      <p:pic>
        <p:nvPicPr>
          <p:cNvPr id="408" name="Google Shape;408;p57"/>
          <p:cNvPicPr preferRelativeResize="0"/>
          <p:nvPr/>
        </p:nvPicPr>
        <p:blipFill>
          <a:blip r:embed="rId4">
            <a:alphaModFix/>
          </a:blip>
          <a:stretch>
            <a:fillRect/>
          </a:stretch>
        </p:blipFill>
        <p:spPr>
          <a:xfrm>
            <a:off x="2485677" y="2285400"/>
            <a:ext cx="1782220" cy="572700"/>
          </a:xfrm>
          <a:prstGeom prst="rect">
            <a:avLst/>
          </a:prstGeom>
          <a:noFill/>
          <a:ln>
            <a:noFill/>
          </a:ln>
        </p:spPr>
      </p:pic>
      <p:pic>
        <p:nvPicPr>
          <p:cNvPr id="409" name="Google Shape;409;p57" title="part2-13-scalar-rmsprop-acc-via-reg-flow.gif"/>
          <p:cNvPicPr preferRelativeResize="0"/>
          <p:nvPr/>
        </p:nvPicPr>
        <p:blipFill>
          <a:blip r:embed="rId5">
            <a:alphaModFix/>
          </a:blip>
          <a:stretch>
            <a:fillRect/>
          </a:stretch>
        </p:blipFill>
        <p:spPr>
          <a:xfrm>
            <a:off x="1044913" y="2957100"/>
            <a:ext cx="7054176" cy="17635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Scalar RMSProp</a:t>
            </a:r>
            <a:endParaRPr/>
          </a:p>
        </p:txBody>
      </p:sp>
      <p:sp>
        <p:nvSpPr>
          <p:cNvPr id="415" name="Google Shape;415;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 common confusion is why the learning rate in an adaptive optimizer is meaningful since it gets rescaled (for example, at EoS, the effective step size is fixed at 2 / 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now see that larger learning rate results in </a:t>
            </a:r>
            <a:r>
              <a:rPr lang="en"/>
              <a:t>higher</a:t>
            </a:r>
            <a:r>
              <a:rPr lang="en"/>
              <a:t> sharpness regularization, increasing effective step size. Therefore, increasing learning rate does increase step size, but quite indirectly</a:t>
            </a:r>
            <a:endParaRPr/>
          </a:p>
        </p:txBody>
      </p:sp>
      <p:sp>
        <p:nvSpPr>
          <p:cNvPr id="416" name="Google Shape;416;p5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22" name="Google Shape;422;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Now that we understand Scalar RMSProp, we can extend our analysis to RMSProp which maintains a coordinate-wise squared gradient EMA. This is equivalent to Adam without the momentum</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This is equivalent to diagonal preconditioning of diag(</a:t>
            </a:r>
            <a:r>
              <a:rPr lang="en"/>
              <a:t>√𝜈</a:t>
            </a:r>
            <a:r>
              <a:rPr baseline="-25000" lang="en"/>
              <a:t>t</a:t>
            </a:r>
            <a:r>
              <a:rPr lang="en"/>
              <a:t> / η)</a:t>
            </a:r>
            <a:endParaRPr/>
          </a:p>
          <a:p>
            <a:pPr indent="0" lvl="0" marL="0" rtl="0" algn="l">
              <a:spcBef>
                <a:spcPts val="1200"/>
              </a:spcBef>
              <a:spcAft>
                <a:spcPts val="1200"/>
              </a:spcAft>
              <a:buNone/>
            </a:pPr>
            <a:r>
              <a:rPr lang="en"/>
              <a:t>Though people have an intuition that Adam/RMSProp helps similar to Newton’s method, it’s worth noting that they are purely first-order methods</a:t>
            </a:r>
            <a:endParaRPr/>
          </a:p>
        </p:txBody>
      </p:sp>
      <p:sp>
        <p:nvSpPr>
          <p:cNvPr id="423" name="Google Shape;423;p5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24" name="Google Shape;424;p59"/>
          <p:cNvPicPr preferRelativeResize="0"/>
          <p:nvPr/>
        </p:nvPicPr>
        <p:blipFill>
          <a:blip r:embed="rId3">
            <a:alphaModFix/>
          </a:blip>
          <a:stretch>
            <a:fillRect/>
          </a:stretch>
        </p:blipFill>
        <p:spPr>
          <a:xfrm>
            <a:off x="1232462" y="2255250"/>
            <a:ext cx="6679074" cy="8969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30" name="Google Shape;430;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RMSProp has a smooth loss curve. However, its coordinates oscillate quite a bit</a:t>
            </a:r>
            <a:endParaRPr/>
          </a:p>
        </p:txBody>
      </p:sp>
      <p:sp>
        <p:nvSpPr>
          <p:cNvPr id="431" name="Google Shape;431;p60"/>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32" name="Google Shape;432;p60" title="part3-01-rmsprop-loss.gif"/>
          <p:cNvPicPr preferRelativeResize="0"/>
          <p:nvPr/>
        </p:nvPicPr>
        <p:blipFill>
          <a:blip r:embed="rId3">
            <a:alphaModFix/>
          </a:blip>
          <a:stretch>
            <a:fillRect/>
          </a:stretch>
        </p:blipFill>
        <p:spPr>
          <a:xfrm>
            <a:off x="172375" y="2143150"/>
            <a:ext cx="2171576" cy="1628674"/>
          </a:xfrm>
          <a:prstGeom prst="rect">
            <a:avLst/>
          </a:prstGeom>
          <a:noFill/>
          <a:ln>
            <a:noFill/>
          </a:ln>
        </p:spPr>
      </p:pic>
      <p:pic>
        <p:nvPicPr>
          <p:cNvPr id="433" name="Google Shape;433;p60" title="part3-02-rmsprop-discrete-nu.gif"/>
          <p:cNvPicPr preferRelativeResize="0"/>
          <p:nvPr/>
        </p:nvPicPr>
        <p:blipFill>
          <a:blip r:embed="rId4">
            <a:alphaModFix/>
          </a:blip>
          <a:stretch>
            <a:fillRect/>
          </a:stretch>
        </p:blipFill>
        <p:spPr>
          <a:xfrm>
            <a:off x="2456725" y="2143138"/>
            <a:ext cx="6514899" cy="16286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39" name="Google Shape;439;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Since we are reasoning about preconditioned gradient descent, it’s most helpful to think about the effective Hessian P</a:t>
            </a:r>
            <a:r>
              <a:rPr baseline="30000" lang="en"/>
              <a:t>-1</a:t>
            </a:r>
            <a:r>
              <a:rPr lang="en"/>
              <a:t>H = diag(</a:t>
            </a:r>
            <a:r>
              <a:rPr lang="en"/>
              <a:t>η / √𝜈</a:t>
            </a:r>
            <a:r>
              <a:rPr baseline="-25000" lang="en"/>
              <a:t>t</a:t>
            </a:r>
            <a:r>
              <a:rPr lang="en"/>
              <a:t>)H and whether its </a:t>
            </a:r>
            <a:r>
              <a:rPr lang="en"/>
              <a:t>eigenvalues exceed 2. We see the familiar EoS</a:t>
            </a:r>
            <a:endParaRPr/>
          </a:p>
        </p:txBody>
      </p:sp>
      <p:sp>
        <p:nvSpPr>
          <p:cNvPr id="440" name="Google Shape;440;p61"/>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41" name="Google Shape;441;p61" title="part3-04-rmsprop-eos.gif"/>
          <p:cNvPicPr preferRelativeResize="0"/>
          <p:nvPr/>
        </p:nvPicPr>
        <p:blipFill>
          <a:blip r:embed="rId3">
            <a:alphaModFix/>
          </a:blip>
          <a:stretch>
            <a:fillRect/>
          </a:stretch>
        </p:blipFill>
        <p:spPr>
          <a:xfrm>
            <a:off x="1232700" y="2254600"/>
            <a:ext cx="6678600" cy="25044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47" name="Google Shape;447;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For RMSProp, you can also derive a similar-looking central flow for all the eigenvalues. It unfortunately does not have a simple closed form, we’ll skip the math. As expected, it makes the right predictions and such</a:t>
            </a:r>
            <a:endParaRPr/>
          </a:p>
        </p:txBody>
      </p:sp>
      <p:sp>
        <p:nvSpPr>
          <p:cNvPr id="448" name="Google Shape;448;p6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49" name="Google Shape;449;p62" title="part3-05-rmsprop-centralflow.gif"/>
          <p:cNvPicPr preferRelativeResize="0"/>
          <p:nvPr/>
        </p:nvPicPr>
        <p:blipFill>
          <a:blip r:embed="rId3">
            <a:alphaModFix/>
          </a:blip>
          <a:stretch>
            <a:fillRect/>
          </a:stretch>
        </p:blipFill>
        <p:spPr>
          <a:xfrm>
            <a:off x="510763" y="2344050"/>
            <a:ext cx="8122476" cy="20306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55" name="Google Shape;455;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 what is RMSProp’s preconditioner actually computing? We can reason about the stationary preconditioner, equivalent to</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This is equivalent to solving the following convex program</a:t>
            </a:r>
            <a:endParaRPr/>
          </a:p>
          <a:p>
            <a:pPr indent="0" lvl="0" marL="0" rtl="0" algn="l">
              <a:spcBef>
                <a:spcPts val="1200"/>
              </a:spcBef>
              <a:spcAft>
                <a:spcPts val="1200"/>
              </a:spcAft>
              <a:buNone/>
            </a:pPr>
            <a:r>
              <a:t/>
            </a:r>
            <a:endParaRPr/>
          </a:p>
        </p:txBody>
      </p:sp>
      <p:sp>
        <p:nvSpPr>
          <p:cNvPr id="456" name="Google Shape;456;p6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57" name="Google Shape;457;p63"/>
          <p:cNvPicPr preferRelativeResize="0"/>
          <p:nvPr/>
        </p:nvPicPr>
        <p:blipFill>
          <a:blip r:embed="rId3">
            <a:alphaModFix/>
          </a:blip>
          <a:stretch>
            <a:fillRect/>
          </a:stretch>
        </p:blipFill>
        <p:spPr>
          <a:xfrm>
            <a:off x="1377062" y="2937575"/>
            <a:ext cx="6389873" cy="839300"/>
          </a:xfrm>
          <a:prstGeom prst="rect">
            <a:avLst/>
          </a:prstGeom>
          <a:noFill/>
          <a:ln>
            <a:noFill/>
          </a:ln>
        </p:spPr>
      </p:pic>
      <p:pic>
        <p:nvPicPr>
          <p:cNvPr id="458" name="Google Shape;458;p63"/>
          <p:cNvPicPr preferRelativeResize="0"/>
          <p:nvPr/>
        </p:nvPicPr>
        <p:blipFill>
          <a:blip r:embed="rId4">
            <a:alphaModFix/>
          </a:blip>
          <a:stretch>
            <a:fillRect/>
          </a:stretch>
        </p:blipFill>
        <p:spPr>
          <a:xfrm>
            <a:off x="4889450" y="1557150"/>
            <a:ext cx="1768639" cy="5727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64" name="Google Shape;464;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a:t>The constraint enforces the stable effective step size. trace(P) corresponds to minimizing the sum of the inverse effective learning rates (i.e. increasing step size subject to stability). Speeds up training</a:t>
            </a:r>
            <a:endParaRPr/>
          </a:p>
        </p:txBody>
      </p:sp>
      <p:sp>
        <p:nvSpPr>
          <p:cNvPr id="465" name="Google Shape;465;p64"/>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66" name="Google Shape;466;p64"/>
          <p:cNvPicPr preferRelativeResize="0"/>
          <p:nvPr/>
        </p:nvPicPr>
        <p:blipFill>
          <a:blip r:embed="rId3">
            <a:alphaModFix/>
          </a:blip>
          <a:stretch>
            <a:fillRect/>
          </a:stretch>
        </p:blipFill>
        <p:spPr>
          <a:xfrm>
            <a:off x="1898289" y="931625"/>
            <a:ext cx="5347425" cy="702375"/>
          </a:xfrm>
          <a:prstGeom prst="rect">
            <a:avLst/>
          </a:prstGeom>
          <a:noFill/>
          <a:ln>
            <a:noFill/>
          </a:ln>
        </p:spPr>
      </p:pic>
      <p:pic>
        <p:nvPicPr>
          <p:cNvPr id="467" name="Google Shape;467;p64"/>
          <p:cNvPicPr preferRelativeResize="0"/>
          <p:nvPr/>
        </p:nvPicPr>
        <p:blipFill>
          <a:blip r:embed="rId4">
            <a:alphaModFix/>
          </a:blip>
          <a:stretch>
            <a:fillRect/>
          </a:stretch>
        </p:blipFill>
        <p:spPr>
          <a:xfrm>
            <a:off x="717825" y="3029925"/>
            <a:ext cx="7708349" cy="1723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73" name="Google Shape;473;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a:t>Interestingly, only optimizing the first term without the diagonal </a:t>
            </a:r>
            <a:r>
              <a:rPr lang="en"/>
              <a:t>constraint</a:t>
            </a:r>
            <a:r>
              <a:rPr lang="en"/>
              <a:t> is equivalent to preconditioning via the Hessian </a:t>
            </a:r>
            <a:endParaRPr/>
          </a:p>
        </p:txBody>
      </p:sp>
      <p:sp>
        <p:nvSpPr>
          <p:cNvPr id="474" name="Google Shape;474;p65"/>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75" name="Google Shape;475;p65"/>
          <p:cNvPicPr preferRelativeResize="0"/>
          <p:nvPr/>
        </p:nvPicPr>
        <p:blipFill>
          <a:blip r:embed="rId3">
            <a:alphaModFix/>
          </a:blip>
          <a:stretch>
            <a:fillRect/>
          </a:stretch>
        </p:blipFill>
        <p:spPr>
          <a:xfrm>
            <a:off x="1898289" y="931625"/>
            <a:ext cx="5347425" cy="702375"/>
          </a:xfrm>
          <a:prstGeom prst="rect">
            <a:avLst/>
          </a:prstGeom>
          <a:noFill/>
          <a:ln>
            <a:noFill/>
          </a:ln>
        </p:spPr>
      </p:pic>
      <p:pic>
        <p:nvPicPr>
          <p:cNvPr id="476" name="Google Shape;476;p65"/>
          <p:cNvPicPr preferRelativeResize="0"/>
          <p:nvPr/>
        </p:nvPicPr>
        <p:blipFill>
          <a:blip r:embed="rId4">
            <a:alphaModFix/>
          </a:blip>
          <a:stretch>
            <a:fillRect/>
          </a:stretch>
        </p:blipFill>
        <p:spPr>
          <a:xfrm>
            <a:off x="717825" y="3029925"/>
            <a:ext cx="7708349" cy="1723850"/>
          </a:xfrm>
          <a:prstGeom prst="rect">
            <a:avLst/>
          </a:prstGeom>
          <a:noFill/>
          <a:ln>
            <a:noFill/>
          </a:ln>
        </p:spPr>
      </p:pic>
      <p:pic>
        <p:nvPicPr>
          <p:cNvPr id="477" name="Google Shape;477;p65"/>
          <p:cNvPicPr preferRelativeResize="0"/>
          <p:nvPr/>
        </p:nvPicPr>
        <p:blipFill>
          <a:blip r:embed="rId5">
            <a:alphaModFix/>
          </a:blip>
          <a:stretch>
            <a:fillRect/>
          </a:stretch>
        </p:blipFill>
        <p:spPr>
          <a:xfrm>
            <a:off x="5233572" y="2085662"/>
            <a:ext cx="2109827" cy="492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RMSProp</a:t>
            </a:r>
            <a:endParaRPr/>
          </a:p>
        </p:txBody>
      </p:sp>
      <p:sp>
        <p:nvSpPr>
          <p:cNvPr id="483" name="Google Shape;483;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On the other hand, the second term exists to directly slow down training. When introducing this second term into the central flow, training proceeds more slowly</a:t>
            </a:r>
            <a:endParaRPr/>
          </a:p>
          <a:p>
            <a:pPr indent="0" lvl="0" marL="0" rtl="0" algn="l">
              <a:spcBef>
                <a:spcPts val="1200"/>
              </a:spcBef>
              <a:spcAft>
                <a:spcPts val="1200"/>
              </a:spcAft>
              <a:buNone/>
            </a:pPr>
            <a:r>
              <a:rPr lang="en"/>
              <a:t>This might be a suboptimal aspect of RMSProp, even though it is what it does</a:t>
            </a:r>
            <a:endParaRPr/>
          </a:p>
        </p:txBody>
      </p:sp>
      <p:sp>
        <p:nvSpPr>
          <p:cNvPr id="484" name="Google Shape;484;p6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pic>
        <p:nvPicPr>
          <p:cNvPr id="485" name="Google Shape;485;p66"/>
          <p:cNvPicPr preferRelativeResize="0"/>
          <p:nvPr/>
        </p:nvPicPr>
        <p:blipFill>
          <a:blip r:embed="rId3">
            <a:alphaModFix/>
          </a:blip>
          <a:stretch>
            <a:fillRect/>
          </a:stretch>
        </p:blipFill>
        <p:spPr>
          <a:xfrm>
            <a:off x="1898289" y="931625"/>
            <a:ext cx="5347425" cy="702375"/>
          </a:xfrm>
          <a:prstGeom prst="rect">
            <a:avLst/>
          </a:prstGeom>
          <a:noFill/>
          <a:ln>
            <a:noFill/>
          </a:ln>
        </p:spPr>
      </p:pic>
      <p:pic>
        <p:nvPicPr>
          <p:cNvPr id="486" name="Google Shape;486;p66"/>
          <p:cNvPicPr preferRelativeResize="0"/>
          <p:nvPr/>
        </p:nvPicPr>
        <p:blipFill>
          <a:blip r:embed="rId4">
            <a:alphaModFix/>
          </a:blip>
          <a:stretch>
            <a:fillRect/>
          </a:stretch>
        </p:blipFill>
        <p:spPr>
          <a:xfrm>
            <a:off x="717717" y="3029925"/>
            <a:ext cx="7708457" cy="1723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492" name="Google Shape;492;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When normalizing the gradient (i.e. via RMSProp), we change the effective step size and the effective sharpness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Training via (Scalar) RMSProp both adapts to the curvature of the loss landscape while also reducing the sharpness. (Scalar) RMSProp accelerates training because of the adaptive component and its effective sharpness reduction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stationary preconditioner of RMSProp reveals the similarities and differences between second-order methods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Failures of Edge of Stability / Central Flows</a:t>
            </a:r>
            <a:endParaRPr/>
          </a:p>
        </p:txBody>
      </p:sp>
      <p:sp>
        <p:nvSpPr>
          <p:cNvPr id="498" name="Google Shape;498;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Generally less reliable </a:t>
            </a:r>
            <a:r>
              <a:rPr lang="en"/>
              <a:t>phenomenology</a:t>
            </a:r>
            <a:r>
              <a:rPr lang="en"/>
              <a:t> for</a:t>
            </a:r>
            <a:endParaRPr/>
          </a:p>
          <a:p>
            <a:pPr indent="-342900" lvl="0" marL="457200" rtl="0" algn="l">
              <a:spcBef>
                <a:spcPts val="1200"/>
              </a:spcBef>
              <a:spcAft>
                <a:spcPts val="0"/>
              </a:spcAft>
              <a:buSzPts val="1800"/>
              <a:buChar char="-"/>
            </a:pPr>
            <a:r>
              <a:rPr lang="en"/>
              <a:t>Cross-entropy loss</a:t>
            </a:r>
            <a:endParaRPr/>
          </a:p>
          <a:p>
            <a:pPr indent="-342900" lvl="0" marL="457200" rtl="0" algn="l">
              <a:spcBef>
                <a:spcPts val="0"/>
              </a:spcBef>
              <a:spcAft>
                <a:spcPts val="0"/>
              </a:spcAft>
              <a:buSzPts val="1800"/>
              <a:buChar char="-"/>
            </a:pPr>
            <a:r>
              <a:rPr lang="en"/>
              <a:t>Stochastic setting</a:t>
            </a:r>
            <a:endParaRPr/>
          </a:p>
          <a:p>
            <a:pPr indent="-342900" lvl="0" marL="457200" rtl="0" algn="l">
              <a:spcBef>
                <a:spcPts val="0"/>
              </a:spcBef>
              <a:spcAft>
                <a:spcPts val="0"/>
              </a:spcAft>
              <a:buSzPts val="1800"/>
              <a:buChar char="-"/>
            </a:pPr>
            <a:r>
              <a:rPr lang="en"/>
              <a:t>Modern optimizers such as AdamW</a:t>
            </a:r>
            <a:endParaRPr/>
          </a:p>
          <a:p>
            <a:pPr indent="-342900" lvl="0" marL="457200" rtl="0" algn="l">
              <a:spcBef>
                <a:spcPts val="0"/>
              </a:spcBef>
              <a:spcAft>
                <a:spcPts val="0"/>
              </a:spcAft>
              <a:buSzPts val="1800"/>
              <a:buChar char="-"/>
            </a:pPr>
            <a:r>
              <a:rPr lang="en"/>
              <a:t>Extremely high learning rates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Furthermore, it is mostly unknown why progressive sharpening happens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assignment</a:t>
            </a:r>
            <a:endParaRPr/>
          </a:p>
        </p:txBody>
      </p:sp>
      <p:sp>
        <p:nvSpPr>
          <p:cNvPr id="504" name="Google Shape;504;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your assignment, you will be analyzing where sharpness and effective sharpness stabilize as a function of different hyperparameters (learning rate, batch size, momentum, etc.).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It will be most </a:t>
            </a:r>
            <a:r>
              <a:rPr lang="en"/>
              <a:t>helpful</a:t>
            </a:r>
            <a:r>
              <a:rPr lang="en"/>
              <a:t> to first process EoS/Central Flows and what predictions they make. Then, you can run your experiments and see where the models made correct and incorrect predictions.</a:t>
            </a:r>
            <a:endParaRPr/>
          </a:p>
        </p:txBody>
      </p:sp>
      <p:sp>
        <p:nvSpPr>
          <p:cNvPr id="505" name="Google Shape;505;p69"/>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Understanding Optimization in Deep Learning with Central Flows</a:t>
            </a:r>
            <a:endParaRPr sz="1000">
              <a:solidFill>
                <a:schemeClr val="dk1"/>
              </a:solidFill>
              <a:latin typeface="Palatino"/>
              <a:ea typeface="Palatino"/>
              <a:cs typeface="Palatino"/>
              <a:sym typeface="Palatin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care about sharpness?</a:t>
            </a:r>
            <a:endParaRPr/>
          </a:p>
        </p:txBody>
      </p:sp>
      <p:sp>
        <p:nvSpPr>
          <p:cNvPr id="511" name="Google Shape;511;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We’ve now reasoned about how decreasing sharpness can accelerate training from the perspective of increasing step size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Is there any other reason we should care about sharpness?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Generalization</a:t>
            </a:r>
            <a:endParaRPr/>
          </a:p>
        </p:txBody>
      </p:sp>
      <p:sp>
        <p:nvSpPr>
          <p:cNvPr id="517" name="Google Shape;517;p71"/>
          <p:cNvSpPr txBox="1"/>
          <p:nvPr>
            <p:ph idx="1" type="body"/>
          </p:nvPr>
        </p:nvSpPr>
        <p:spPr>
          <a:xfrm>
            <a:off x="311700" y="1152475"/>
            <a:ext cx="8520600" cy="37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 far in this class, we’ve considered model performance in the context of unlimited data for a fixed number of steps. However, we may be constrained by the number of samples rather than the number of steps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 this setting, train loss and validation loss</a:t>
            </a:r>
            <a:br>
              <a:rPr lang="en"/>
            </a:br>
            <a:r>
              <a:rPr lang="en"/>
              <a:t>are not correlated. Even though we can</a:t>
            </a:r>
            <a:br>
              <a:rPr lang="en"/>
            </a:br>
            <a:r>
              <a:rPr lang="en"/>
              <a:t>minimize train loss quite aggressively by</a:t>
            </a:r>
            <a:br>
              <a:rPr lang="en"/>
            </a:br>
            <a:r>
              <a:rPr lang="en"/>
              <a:t>memorizing samples, what we care about</a:t>
            </a:r>
            <a:br>
              <a:rPr lang="en"/>
            </a:br>
            <a:r>
              <a:rPr lang="en"/>
              <a:t>is loss on the validation set.</a:t>
            </a:r>
            <a:endParaRPr/>
          </a:p>
        </p:txBody>
      </p:sp>
      <p:sp>
        <p:nvSpPr>
          <p:cNvPr id="518" name="Google Shape;518;p71"/>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Scaling Repeated-Data Pretraining: Batch Size, Regularization, and GPU-Time Tradeoffs</a:t>
            </a:r>
            <a:endParaRPr sz="1000">
              <a:solidFill>
                <a:schemeClr val="dk1"/>
              </a:solidFill>
              <a:latin typeface="Palatino"/>
              <a:ea typeface="Palatino"/>
              <a:cs typeface="Palatino"/>
              <a:sym typeface="Palatino"/>
            </a:endParaRPr>
          </a:p>
        </p:txBody>
      </p:sp>
      <p:pic>
        <p:nvPicPr>
          <p:cNvPr id="519" name="Google Shape;519;p71"/>
          <p:cNvPicPr preferRelativeResize="0"/>
          <p:nvPr/>
        </p:nvPicPr>
        <p:blipFill>
          <a:blip r:embed="rId3">
            <a:alphaModFix/>
          </a:blip>
          <a:stretch>
            <a:fillRect/>
          </a:stretch>
        </p:blipFill>
        <p:spPr>
          <a:xfrm>
            <a:off x="5158100" y="2297800"/>
            <a:ext cx="1788225" cy="2472625"/>
          </a:xfrm>
          <a:prstGeom prst="rect">
            <a:avLst/>
          </a:prstGeom>
          <a:noFill/>
          <a:ln>
            <a:noFill/>
          </a:ln>
        </p:spPr>
      </p:pic>
      <p:pic>
        <p:nvPicPr>
          <p:cNvPr id="520" name="Google Shape;520;p71"/>
          <p:cNvPicPr preferRelativeResize="0"/>
          <p:nvPr/>
        </p:nvPicPr>
        <p:blipFill rotWithShape="1">
          <a:blip r:embed="rId4">
            <a:alphaModFix/>
          </a:blip>
          <a:srcRect b="0" l="46888" r="0" t="0"/>
          <a:stretch/>
        </p:blipFill>
        <p:spPr>
          <a:xfrm>
            <a:off x="7124425" y="3507425"/>
            <a:ext cx="1633050" cy="314725"/>
          </a:xfrm>
          <a:prstGeom prst="rect">
            <a:avLst/>
          </a:prstGeom>
          <a:noFill/>
          <a:ln>
            <a:noFill/>
          </a:ln>
        </p:spPr>
      </p:pic>
      <p:pic>
        <p:nvPicPr>
          <p:cNvPr id="521" name="Google Shape;521;p71"/>
          <p:cNvPicPr preferRelativeResize="0"/>
          <p:nvPr/>
        </p:nvPicPr>
        <p:blipFill rotWithShape="1">
          <a:blip r:embed="rId4">
            <a:alphaModFix/>
          </a:blip>
          <a:srcRect b="0" l="0" r="52994" t="0"/>
          <a:stretch/>
        </p:blipFill>
        <p:spPr>
          <a:xfrm>
            <a:off x="7124425" y="3142975"/>
            <a:ext cx="1445325" cy="3147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Generalization</a:t>
            </a:r>
            <a:endParaRPr/>
          </a:p>
        </p:txBody>
      </p:sp>
      <p:sp>
        <p:nvSpPr>
          <p:cNvPr id="527" name="Google Shape;527;p72"/>
          <p:cNvSpPr txBox="1"/>
          <p:nvPr>
            <p:ph idx="1" type="body"/>
          </p:nvPr>
        </p:nvSpPr>
        <p:spPr>
          <a:xfrm>
            <a:off x="311700" y="1152475"/>
            <a:ext cx="8520600" cy="37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is a folklore intuition that flatter minima will display better generalization [</a:t>
            </a:r>
            <a:r>
              <a:rPr lang="en" u="sng">
                <a:solidFill>
                  <a:schemeClr val="hlink"/>
                </a:solidFill>
                <a:hlinkClick r:id="rId3"/>
              </a:rPr>
              <a:t>Hochreiter and Schmidhuber, 1997</a:t>
            </a:r>
            <a:r>
              <a:rPr lang="en"/>
              <a:t>, </a:t>
            </a:r>
            <a:r>
              <a:rPr lang="en" u="sng">
                <a:solidFill>
                  <a:schemeClr val="hlink"/>
                </a:solidFill>
                <a:hlinkClick r:id="rId4"/>
              </a:rPr>
              <a:t>Dziugaite and Roy, 2017</a:t>
            </a:r>
            <a:r>
              <a:rPr lang="en"/>
              <a:t>]</a:t>
            </a:r>
            <a:endParaRPr/>
          </a:p>
        </p:txBody>
      </p:sp>
      <p:pic>
        <p:nvPicPr>
          <p:cNvPr id="528" name="Google Shape;528;p72"/>
          <p:cNvPicPr preferRelativeResize="0"/>
          <p:nvPr/>
        </p:nvPicPr>
        <p:blipFill>
          <a:blip r:embed="rId5">
            <a:alphaModFix/>
          </a:blip>
          <a:stretch>
            <a:fillRect/>
          </a:stretch>
        </p:blipFill>
        <p:spPr>
          <a:xfrm>
            <a:off x="1564700" y="2009875"/>
            <a:ext cx="6014607" cy="2696225"/>
          </a:xfrm>
          <a:prstGeom prst="rect">
            <a:avLst/>
          </a:prstGeom>
          <a:noFill/>
          <a:ln>
            <a:noFill/>
          </a:ln>
        </p:spPr>
      </p:pic>
      <p:sp>
        <p:nvSpPr>
          <p:cNvPr id="529" name="Google Shape;529;p72"/>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On Large-Batch Training for Deep Learning: Generalization Gap and Sharp Minima</a:t>
            </a:r>
            <a:endParaRPr sz="1000">
              <a:solidFill>
                <a:schemeClr val="dk1"/>
              </a:solidFill>
              <a:latin typeface="Palatino"/>
              <a:ea typeface="Palatino"/>
              <a:cs typeface="Palatino"/>
              <a:sym typeface="Palatin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Fantastic Generalization</a:t>
            </a:r>
            <a:endParaRPr/>
          </a:p>
        </p:txBody>
      </p:sp>
      <p:sp>
        <p:nvSpPr>
          <p:cNvPr id="535" name="Google Shape;535;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Jiang et al, 2019</a:t>
            </a:r>
            <a:r>
              <a:rPr lang="en"/>
              <a:t> studies how well various generalization measures </a:t>
            </a:r>
            <a:r>
              <a:rPr lang="en"/>
              <a:t>correlate</a:t>
            </a:r>
            <a:r>
              <a:rPr lang="en"/>
              <a:t> with model performance over a sweep of 2187 models. Overall, they find that most measures correlate poorly, with sharpness being a promising contender</a:t>
            </a:r>
            <a:endParaRPr/>
          </a:p>
          <a:p>
            <a:pPr indent="0" lvl="0" marL="0" rtl="0" algn="l">
              <a:spcBef>
                <a:spcPts val="1200"/>
              </a:spcBef>
              <a:spcAft>
                <a:spcPts val="1200"/>
              </a:spcAft>
              <a:buNone/>
            </a:pPr>
            <a:r>
              <a:t/>
            </a:r>
            <a:endParaRPr/>
          </a:p>
        </p:txBody>
      </p:sp>
      <p:sp>
        <p:nvSpPr>
          <p:cNvPr id="536" name="Google Shape;536;p73"/>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Fantastic Generalization Measures and Where to Find Them</a:t>
            </a:r>
            <a:endParaRPr sz="1000">
              <a:solidFill>
                <a:schemeClr val="dk1"/>
              </a:solidFill>
              <a:latin typeface="Palatino"/>
              <a:ea typeface="Palatino"/>
              <a:cs typeface="Palatino"/>
              <a:sym typeface="Palatino"/>
            </a:endParaRPr>
          </a:p>
        </p:txBody>
      </p:sp>
      <p:graphicFrame>
        <p:nvGraphicFramePr>
          <p:cNvPr id="537" name="Google Shape;537;p73"/>
          <p:cNvGraphicFramePr/>
          <p:nvPr/>
        </p:nvGraphicFramePr>
        <p:xfrm>
          <a:off x="2288775" y="2237675"/>
          <a:ext cx="3000000" cy="3000000"/>
        </p:xfrm>
        <a:graphic>
          <a:graphicData uri="http://schemas.openxmlformats.org/drawingml/2006/table">
            <a:tbl>
              <a:tblPr>
                <a:noFill/>
                <a:tableStyleId>{271A5E40-6122-4832-A95F-18962D6C9C45}</a:tableStyleId>
              </a:tblPr>
              <a:tblGrid>
                <a:gridCol w="2283225"/>
                <a:gridCol w="2283225"/>
              </a:tblGrid>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1/α′ sharpness mag</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0.516</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sum-of-fro/margin</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0.381</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pacbayes-orig</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0.360</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path-norm/margin</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0.305</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grad-noise-final</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0.292</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fro/spec</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0.243</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cross-entropy</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0.147</a:t>
                      </a:r>
                      <a:endParaRPr sz="1000">
                        <a:solidFill>
                          <a:schemeClr val="dk1"/>
                        </a:solidFill>
                        <a:latin typeface="Palatino"/>
                        <a:ea typeface="Palatino"/>
                        <a:cs typeface="Palatino"/>
                        <a:sym typeface="Palatino"/>
                      </a:endParaRPr>
                    </a:p>
                  </a:txBody>
                  <a:tcPr marT="91425" marB="91425" marR="91425" marL="91425"/>
                </a:tc>
              </a:tr>
              <a:tr h="272275">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 params</a:t>
                      </a:r>
                      <a:endParaRPr sz="1000">
                        <a:solidFill>
                          <a:schemeClr val="dk1"/>
                        </a:solidFill>
                        <a:latin typeface="Palatino"/>
                        <a:ea typeface="Palatino"/>
                        <a:cs typeface="Palatino"/>
                        <a:sym typeface="Palatino"/>
                      </a:endParaRPr>
                    </a:p>
                  </a:txBody>
                  <a:tcPr marT="91425" marB="91425" marR="91425" marL="91425"/>
                </a:tc>
                <a:tc>
                  <a:txBody>
                    <a:bodyPr/>
                    <a:lstStyle/>
                    <a:p>
                      <a:pPr indent="0" lvl="0" marL="0" rtl="0" algn="l">
                        <a:spcBef>
                          <a:spcPts val="0"/>
                        </a:spcBef>
                        <a:spcAft>
                          <a:spcPts val="0"/>
                        </a:spcAft>
                        <a:buNone/>
                      </a:pPr>
                      <a:r>
                        <a:rPr lang="en" sz="1000">
                          <a:solidFill>
                            <a:schemeClr val="dk1"/>
                          </a:solidFill>
                          <a:latin typeface="Palatino"/>
                          <a:ea typeface="Palatino"/>
                          <a:cs typeface="Palatino"/>
                          <a:sym typeface="Palatino"/>
                        </a:rPr>
                        <a:t>−0.15</a:t>
                      </a:r>
                      <a:endParaRPr sz="1000">
                        <a:solidFill>
                          <a:schemeClr val="dk1"/>
                        </a:solidFill>
                        <a:latin typeface="Palatino"/>
                        <a:ea typeface="Palatino"/>
                        <a:cs typeface="Palatino"/>
                        <a:sym typeface="Palatino"/>
                      </a:endParaRPr>
                    </a:p>
                  </a:txBody>
                  <a:tcPr marT="91425" marB="91425" marR="91425" marL="91425"/>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Fantastic Generalization?</a:t>
            </a:r>
            <a:endParaRPr/>
          </a:p>
        </p:txBody>
      </p:sp>
      <p:sp>
        <p:nvSpPr>
          <p:cNvPr id="543" name="Google Shape;543;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However, later studies find that this correlation is actually quite weak and often negative as well [</a:t>
            </a:r>
            <a:r>
              <a:rPr lang="en" u="sng">
                <a:solidFill>
                  <a:schemeClr val="hlink"/>
                </a:solidFill>
                <a:hlinkClick r:id="rId3"/>
              </a:rPr>
              <a:t>Andriushchenko et al, 2023</a:t>
            </a:r>
            <a:r>
              <a:rPr lang="en"/>
              <a:t>], Furthermore, you can </a:t>
            </a:r>
            <a:r>
              <a:rPr lang="en"/>
              <a:t>construct</a:t>
            </a:r>
            <a:r>
              <a:rPr lang="en"/>
              <a:t> examples where the global minima are extremely sharp [</a:t>
            </a:r>
            <a:r>
              <a:rPr lang="en" u="sng">
                <a:solidFill>
                  <a:schemeClr val="hlink"/>
                </a:solidFill>
                <a:hlinkClick r:id="rId4"/>
              </a:rPr>
              <a:t>Dinh et al, 2017</a:t>
            </a:r>
            <a:r>
              <a:rPr lang="en"/>
              <a:t>]</a:t>
            </a:r>
            <a:endParaRPr/>
          </a:p>
          <a:p>
            <a:pPr indent="0" lvl="0" marL="0" rtl="0" algn="l">
              <a:spcBef>
                <a:spcPts val="1200"/>
              </a:spcBef>
              <a:spcAft>
                <a:spcPts val="1200"/>
              </a:spcAft>
              <a:buNone/>
            </a:pPr>
            <a:r>
              <a:t/>
            </a:r>
            <a:endParaRPr/>
          </a:p>
        </p:txBody>
      </p:sp>
      <p:sp>
        <p:nvSpPr>
          <p:cNvPr id="544" name="Google Shape;544;p74"/>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A Modern Look at the Relationship between Sharpness and Generalization</a:t>
            </a:r>
            <a:endParaRPr sz="1000">
              <a:solidFill>
                <a:schemeClr val="dk1"/>
              </a:solidFill>
              <a:latin typeface="Palatino"/>
              <a:ea typeface="Palatino"/>
              <a:cs typeface="Palatino"/>
              <a:sym typeface="Palatino"/>
            </a:endParaRPr>
          </a:p>
        </p:txBody>
      </p:sp>
      <p:pic>
        <p:nvPicPr>
          <p:cNvPr id="545" name="Google Shape;545;p74"/>
          <p:cNvPicPr preferRelativeResize="0"/>
          <p:nvPr/>
        </p:nvPicPr>
        <p:blipFill>
          <a:blip r:embed="rId5">
            <a:alphaModFix/>
          </a:blip>
          <a:stretch>
            <a:fillRect/>
          </a:stretch>
        </p:blipFill>
        <p:spPr>
          <a:xfrm>
            <a:off x="100800" y="2456601"/>
            <a:ext cx="8942400" cy="18613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Fantastic Generalization?</a:t>
            </a:r>
            <a:endParaRPr/>
          </a:p>
        </p:txBody>
      </p:sp>
      <p:sp>
        <p:nvSpPr>
          <p:cNvPr id="551" name="Google Shape;551;p7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can construct examples where the global minima are extremely sharp [</a:t>
            </a:r>
            <a:r>
              <a:rPr lang="en" u="sng">
                <a:solidFill>
                  <a:schemeClr val="hlink"/>
                </a:solidFill>
                <a:hlinkClick r:id="rId3"/>
              </a:rPr>
              <a:t>Dinh et al, 2017</a:t>
            </a:r>
            <a:r>
              <a:rPr lang="en"/>
              <a:t>]. One general failure of sharpness is that is not invariant to your parameterization.</a:t>
            </a:r>
            <a:endParaRPr/>
          </a:p>
          <a:p>
            <a:pPr indent="0" lvl="0" marL="0" rtl="0" algn="l">
              <a:spcBef>
                <a:spcPts val="1200"/>
              </a:spcBef>
              <a:spcAft>
                <a:spcPts val="1200"/>
              </a:spcAft>
              <a:buNone/>
            </a:pPr>
            <a:r>
              <a:t/>
            </a:r>
            <a:endParaRPr/>
          </a:p>
        </p:txBody>
      </p:sp>
      <p:sp>
        <p:nvSpPr>
          <p:cNvPr id="552" name="Google Shape;552;p75"/>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 Minima Can Generalize For Deep Nets</a:t>
            </a:r>
            <a:endParaRPr sz="1000">
              <a:solidFill>
                <a:schemeClr val="dk1"/>
              </a:solidFill>
              <a:latin typeface="Palatino"/>
              <a:ea typeface="Palatino"/>
              <a:cs typeface="Palatino"/>
              <a:sym typeface="Palatino"/>
            </a:endParaRPr>
          </a:p>
        </p:txBody>
      </p:sp>
      <p:pic>
        <p:nvPicPr>
          <p:cNvPr id="553" name="Google Shape;553;p75"/>
          <p:cNvPicPr preferRelativeResize="0"/>
          <p:nvPr/>
        </p:nvPicPr>
        <p:blipFill>
          <a:blip r:embed="rId4">
            <a:alphaModFix/>
          </a:blip>
          <a:stretch>
            <a:fillRect/>
          </a:stretch>
        </p:blipFill>
        <p:spPr>
          <a:xfrm>
            <a:off x="5282829" y="369875"/>
            <a:ext cx="2905966" cy="41990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Aware Minimization</a:t>
            </a:r>
            <a:endParaRPr/>
          </a:p>
        </p:txBody>
      </p:sp>
      <p:sp>
        <p:nvSpPr>
          <p:cNvPr id="559" name="Google Shape;559;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Suppose believed sharpness was good for training speed and generalization. Can we optimize for it?</a:t>
            </a:r>
            <a:endParaRPr/>
          </a:p>
          <a:p>
            <a:pPr indent="0" lvl="0" marL="0" rtl="0" algn="l">
              <a:spcBef>
                <a:spcPts val="1200"/>
              </a:spcBef>
              <a:spcAft>
                <a:spcPts val="0"/>
              </a:spcAft>
              <a:buNone/>
            </a:pPr>
            <a:r>
              <a:rPr lang="en"/>
              <a:t>We know of a few indirect knobs: high learning rate, low batch size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Foret et al, 2020</a:t>
            </a:r>
            <a:r>
              <a:rPr lang="en"/>
              <a:t> proposed </a:t>
            </a:r>
            <a:br>
              <a:rPr lang="en"/>
            </a:br>
            <a:r>
              <a:rPr lang="en"/>
              <a:t>Sharpness-Aware Minimization </a:t>
            </a:r>
            <a:br>
              <a:rPr lang="en"/>
            </a:br>
            <a:r>
              <a:rPr lang="en"/>
              <a:t>(SAM) to directly optimize</a:t>
            </a:r>
            <a:br>
              <a:rPr lang="en"/>
            </a:br>
            <a:r>
              <a:rPr lang="en"/>
              <a:t>sharpness</a:t>
            </a:r>
            <a:endParaRPr/>
          </a:p>
        </p:txBody>
      </p:sp>
      <p:pic>
        <p:nvPicPr>
          <p:cNvPr id="560" name="Google Shape;560;p76"/>
          <p:cNvPicPr preferRelativeResize="0"/>
          <p:nvPr/>
        </p:nvPicPr>
        <p:blipFill>
          <a:blip r:embed="rId4">
            <a:alphaModFix/>
          </a:blip>
          <a:stretch>
            <a:fillRect/>
          </a:stretch>
        </p:blipFill>
        <p:spPr>
          <a:xfrm>
            <a:off x="3721675" y="2799225"/>
            <a:ext cx="5200976" cy="2004700"/>
          </a:xfrm>
          <a:prstGeom prst="rect">
            <a:avLst/>
          </a:prstGeom>
          <a:noFill/>
          <a:ln>
            <a:noFill/>
          </a:ln>
        </p:spPr>
      </p:pic>
      <p:sp>
        <p:nvSpPr>
          <p:cNvPr id="561" name="Google Shape;561;p76"/>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Sharpness-Aware Minimization for Efficiently Improving Generalization</a:t>
            </a:r>
            <a:endParaRPr sz="1000">
              <a:solidFill>
                <a:schemeClr val="dk1"/>
              </a:solidFill>
              <a:latin typeface="Palatino"/>
              <a:ea typeface="Palatino"/>
              <a:cs typeface="Palatino"/>
              <a:sym typeface="Palatin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Aware Minimization</a:t>
            </a:r>
            <a:endParaRPr/>
          </a:p>
        </p:txBody>
      </p:sp>
      <p:sp>
        <p:nvSpPr>
          <p:cNvPr id="567" name="Google Shape;567;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Core intuition: instead of seeking weights that have low loss, seek out minima where the entire region surrounding the weights also have low loss</a:t>
            </a:r>
            <a:endParaRPr/>
          </a:p>
          <a:p>
            <a:pPr indent="0" lvl="0" marL="0" rtl="0" algn="l">
              <a:spcBef>
                <a:spcPts val="1200"/>
              </a:spcBef>
              <a:spcAft>
                <a:spcPts val="0"/>
              </a:spcAft>
              <a:buNone/>
            </a:pPr>
            <a:r>
              <a:rPr lang="en"/>
              <a:t>Operationalized as minimize the loss under a bounded adversarial update around the weights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 practice, the adversary is estimated via a gradient</a:t>
            </a:r>
            <a:endParaRPr/>
          </a:p>
        </p:txBody>
      </p:sp>
      <p:sp>
        <p:nvSpPr>
          <p:cNvPr id="568" name="Google Shape;568;p77"/>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Sharpness-Aware Minimization for Efficiently Improving Generalization</a:t>
            </a:r>
            <a:endParaRPr sz="1000">
              <a:solidFill>
                <a:schemeClr val="dk1"/>
              </a:solidFill>
              <a:latin typeface="Palatino"/>
              <a:ea typeface="Palatino"/>
              <a:cs typeface="Palatino"/>
              <a:sym typeface="Palatino"/>
            </a:endParaRPr>
          </a:p>
        </p:txBody>
      </p:sp>
      <p:pic>
        <p:nvPicPr>
          <p:cNvPr id="569" name="Google Shape;569;p77"/>
          <p:cNvPicPr preferRelativeResize="0"/>
          <p:nvPr/>
        </p:nvPicPr>
        <p:blipFill>
          <a:blip r:embed="rId3">
            <a:alphaModFix/>
          </a:blip>
          <a:stretch>
            <a:fillRect/>
          </a:stretch>
        </p:blipFill>
        <p:spPr>
          <a:xfrm>
            <a:off x="975511" y="2799300"/>
            <a:ext cx="7192978" cy="7029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Aware Minimization</a:t>
            </a:r>
            <a:endParaRPr/>
          </a:p>
        </p:txBody>
      </p:sp>
      <p:sp>
        <p:nvSpPr>
          <p:cNvPr id="575" name="Google Shape;575;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Original paper reports improvements in generalization over standard SGD (at the cost of some extra compute)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Empirically, it is known to work best under label </a:t>
            </a:r>
            <a:br>
              <a:rPr lang="en"/>
            </a:br>
            <a:r>
              <a:rPr lang="en"/>
              <a:t>noise (analyzed in </a:t>
            </a:r>
            <a:r>
              <a:rPr lang="en" u="sng">
                <a:solidFill>
                  <a:schemeClr val="hlink"/>
                </a:solidFill>
                <a:hlinkClick r:id="rId3"/>
              </a:rPr>
              <a:t>Baek et al, 2024</a:t>
            </a:r>
            <a:r>
              <a:rPr lang="en"/>
              <a:t>)</a:t>
            </a:r>
            <a:endParaRPr/>
          </a:p>
        </p:txBody>
      </p:sp>
      <p:sp>
        <p:nvSpPr>
          <p:cNvPr id="576" name="Google Shape;576;p78"/>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Sharpness-Aware Minimization for Efficiently Improving Generalization</a:t>
            </a:r>
            <a:endParaRPr sz="1000">
              <a:solidFill>
                <a:schemeClr val="dk1"/>
              </a:solidFill>
              <a:latin typeface="Palatino"/>
              <a:ea typeface="Palatino"/>
              <a:cs typeface="Palatino"/>
              <a:sym typeface="Palatino"/>
            </a:endParaRPr>
          </a:p>
        </p:txBody>
      </p:sp>
      <p:pic>
        <p:nvPicPr>
          <p:cNvPr id="577" name="Google Shape;577;p78"/>
          <p:cNvPicPr preferRelativeResize="0"/>
          <p:nvPr/>
        </p:nvPicPr>
        <p:blipFill>
          <a:blip r:embed="rId4">
            <a:alphaModFix/>
          </a:blip>
          <a:stretch>
            <a:fillRect/>
          </a:stretch>
        </p:blipFill>
        <p:spPr>
          <a:xfrm>
            <a:off x="311700" y="2135650"/>
            <a:ext cx="5154824" cy="872200"/>
          </a:xfrm>
          <a:prstGeom prst="rect">
            <a:avLst/>
          </a:prstGeom>
          <a:noFill/>
          <a:ln>
            <a:noFill/>
          </a:ln>
        </p:spPr>
      </p:pic>
      <p:pic>
        <p:nvPicPr>
          <p:cNvPr id="578" name="Google Shape;578;p78"/>
          <p:cNvPicPr preferRelativeResize="0"/>
          <p:nvPr/>
        </p:nvPicPr>
        <p:blipFill>
          <a:blip r:embed="rId5">
            <a:alphaModFix/>
          </a:blip>
          <a:stretch>
            <a:fillRect/>
          </a:stretch>
        </p:blipFill>
        <p:spPr>
          <a:xfrm>
            <a:off x="5801623" y="1736150"/>
            <a:ext cx="2779150" cy="291474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Aware Minimization</a:t>
            </a:r>
            <a:endParaRPr/>
          </a:p>
          <a:p>
            <a:pPr indent="0" lvl="0" marL="0" rtl="0" algn="l">
              <a:spcBef>
                <a:spcPts val="0"/>
              </a:spcBef>
              <a:spcAft>
                <a:spcPts val="0"/>
              </a:spcAft>
              <a:buNone/>
            </a:pPr>
            <a:r>
              <a:t/>
            </a:r>
            <a:endParaRPr/>
          </a:p>
        </p:txBody>
      </p:sp>
      <p:sp>
        <p:nvSpPr>
          <p:cNvPr id="584" name="Google Shape;584;p79"/>
          <p:cNvSpPr txBox="1"/>
          <p:nvPr>
            <p:ph idx="1" type="body"/>
          </p:nvPr>
        </p:nvSpPr>
        <p:spPr>
          <a:xfrm>
            <a:off x="311700" y="1152475"/>
            <a:ext cx="5554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Original SAM paper found that SAM works better with a </a:t>
            </a:r>
            <a:r>
              <a:rPr lang="en"/>
              <a:t>smaller batch size (denoted by m on the right)</a:t>
            </a:r>
            <a:endParaRPr/>
          </a:p>
          <a:p>
            <a:pPr indent="0" lvl="0" marL="0" rtl="0" algn="l">
              <a:spcBef>
                <a:spcPts val="1200"/>
              </a:spcBef>
              <a:spcAft>
                <a:spcPts val="1200"/>
              </a:spcAft>
              <a:buNone/>
            </a:pPr>
            <a:r>
              <a:rPr lang="en"/>
              <a:t>Later it is theoretically proved that the sharpness SAM optimize for depends on batch size. At batch size 1, SAM actually minimizes a different version of sharpness, called the average case sharpness.</a:t>
            </a:r>
            <a:endParaRPr/>
          </a:p>
        </p:txBody>
      </p:sp>
      <p:pic>
        <p:nvPicPr>
          <p:cNvPr id="585" name="Google Shape;585;p79"/>
          <p:cNvPicPr preferRelativeResize="0"/>
          <p:nvPr/>
        </p:nvPicPr>
        <p:blipFill>
          <a:blip r:embed="rId3">
            <a:alphaModFix/>
          </a:blip>
          <a:stretch>
            <a:fillRect/>
          </a:stretch>
        </p:blipFill>
        <p:spPr>
          <a:xfrm>
            <a:off x="5968600" y="776350"/>
            <a:ext cx="2989925" cy="3307450"/>
          </a:xfrm>
          <a:prstGeom prst="rect">
            <a:avLst/>
          </a:prstGeom>
          <a:noFill/>
          <a:ln>
            <a:noFill/>
          </a:ln>
        </p:spPr>
      </p:pic>
      <p:sp>
        <p:nvSpPr>
          <p:cNvPr id="586" name="Google Shape;586;p79"/>
          <p:cNvSpPr txBox="1"/>
          <p:nvPr/>
        </p:nvSpPr>
        <p:spPr>
          <a:xfrm>
            <a:off x="49925" y="48435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Sharpness-Aware Minimization for Efficiently Improving Generalization</a:t>
            </a:r>
            <a:endParaRPr sz="1000">
              <a:solidFill>
                <a:schemeClr val="dk1"/>
              </a:solidFill>
              <a:latin typeface="Palatino"/>
              <a:ea typeface="Palatino"/>
              <a:cs typeface="Palatino"/>
              <a:sym typeface="Palatino"/>
            </a:endParaRPr>
          </a:p>
          <a:p>
            <a:pPr indent="0" lvl="0" marL="0" rtl="0" algn="r">
              <a:spcBef>
                <a:spcPts val="0"/>
              </a:spcBef>
              <a:spcAft>
                <a:spcPts val="0"/>
              </a:spcAft>
              <a:buNone/>
            </a:pPr>
            <a:r>
              <a:t/>
            </a:r>
            <a:endParaRPr sz="1000">
              <a:solidFill>
                <a:schemeClr val="dk1"/>
              </a:solidFill>
              <a:latin typeface="Palatino"/>
              <a:ea typeface="Palatino"/>
              <a:cs typeface="Palatino"/>
              <a:sym typeface="Palatino"/>
            </a:endParaRPr>
          </a:p>
        </p:txBody>
      </p:sp>
      <p:pic>
        <p:nvPicPr>
          <p:cNvPr id="587" name="Google Shape;587;p79"/>
          <p:cNvPicPr preferRelativeResize="0"/>
          <p:nvPr/>
        </p:nvPicPr>
        <p:blipFill>
          <a:blip r:embed="rId4">
            <a:alphaModFix/>
          </a:blip>
          <a:stretch>
            <a:fillRect/>
          </a:stretch>
        </p:blipFill>
        <p:spPr>
          <a:xfrm>
            <a:off x="145925" y="3481675"/>
            <a:ext cx="5757950" cy="7677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Sharpness Aware Pretraining</a:t>
            </a:r>
            <a:endParaRPr/>
          </a:p>
        </p:txBody>
      </p:sp>
      <p:sp>
        <p:nvSpPr>
          <p:cNvPr id="593" name="Google Shape;593;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 intuition is that flatter minima provide better initializations for fine-tuning. Therefore, seeking flatter minima (either via SAM or higher learning rates) can lead to pre-trained initializations that are more amenable to fine-tuning</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594" name="Google Shape;594;p80"/>
          <p:cNvSpPr txBox="1"/>
          <p:nvPr/>
        </p:nvSpPr>
        <p:spPr>
          <a:xfrm>
            <a:off x="0" y="4650900"/>
            <a:ext cx="9144000" cy="4926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 sz="1000">
                <a:solidFill>
                  <a:schemeClr val="dk1"/>
                </a:solidFill>
                <a:latin typeface="Palatino"/>
                <a:ea typeface="Palatino"/>
                <a:cs typeface="Palatino"/>
                <a:sym typeface="Palatino"/>
              </a:rPr>
              <a:t>Sharpness-Aware Pretraining Mitigates Catastrophic Forgetting</a:t>
            </a:r>
            <a:endParaRPr sz="1000">
              <a:solidFill>
                <a:schemeClr val="dk1"/>
              </a:solidFill>
              <a:latin typeface="Palatino"/>
              <a:ea typeface="Palatino"/>
              <a:cs typeface="Palatino"/>
              <a:sym typeface="Palatino"/>
            </a:endParaRPr>
          </a:p>
        </p:txBody>
      </p:sp>
      <p:pic>
        <p:nvPicPr>
          <p:cNvPr id="595" name="Google Shape;595;p80"/>
          <p:cNvPicPr preferRelativeResize="0"/>
          <p:nvPr/>
        </p:nvPicPr>
        <p:blipFill>
          <a:blip r:embed="rId3">
            <a:alphaModFix/>
          </a:blip>
          <a:stretch>
            <a:fillRect/>
          </a:stretch>
        </p:blipFill>
        <p:spPr>
          <a:xfrm>
            <a:off x="773050" y="2345525"/>
            <a:ext cx="3103224" cy="2684976"/>
          </a:xfrm>
          <a:prstGeom prst="rect">
            <a:avLst/>
          </a:prstGeom>
          <a:noFill/>
          <a:ln>
            <a:noFill/>
          </a:ln>
        </p:spPr>
      </p:pic>
      <p:pic>
        <p:nvPicPr>
          <p:cNvPr id="596" name="Google Shape;596;p80"/>
          <p:cNvPicPr preferRelativeResize="0"/>
          <p:nvPr/>
        </p:nvPicPr>
        <p:blipFill>
          <a:blip r:embed="rId4">
            <a:alphaModFix/>
          </a:blip>
          <a:stretch>
            <a:fillRect/>
          </a:stretch>
        </p:blipFill>
        <p:spPr>
          <a:xfrm>
            <a:off x="4133374" y="2345525"/>
            <a:ext cx="4721423" cy="24924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Sharpness Testimonials</a:t>
            </a:r>
            <a:endParaRPr/>
          </a:p>
        </p:txBody>
      </p:sp>
      <p:sp>
        <p:nvSpPr>
          <p:cNvPr id="602" name="Google Shape;602;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feel like I should’ve been nerd sniped by this for at most 6 months of first year of grad school 😂 not 2 years”</a:t>
            </a:r>
            <a:endParaRPr/>
          </a:p>
          <a:p>
            <a:pPr indent="0" lvl="0" marL="0" rtl="0" algn="l">
              <a:spcBef>
                <a:spcPts val="1200"/>
              </a:spcBef>
              <a:spcAft>
                <a:spcPts val="0"/>
              </a:spcAft>
              <a:buNone/>
            </a:pPr>
            <a:r>
              <a:rPr lang="en"/>
              <a:t>“I feel like I should have been nerd sniped for my whole PhD. Sharpness is the only interesting problem in ML”</a:t>
            </a:r>
            <a:endParaRPr/>
          </a:p>
          <a:p>
            <a:pPr indent="0" lvl="0" marL="0" rtl="0" algn="l">
              <a:spcBef>
                <a:spcPts val="1200"/>
              </a:spcBef>
              <a:spcAft>
                <a:spcPts val="0"/>
              </a:spcAft>
              <a:buNone/>
            </a:pPr>
            <a:r>
              <a:rPr lang="en"/>
              <a:t>“I realize sharpness is not the solution to generalization before I enter my PhD and stop working on it, I am still glad that I make this choice”</a:t>
            </a:r>
            <a:endParaRPr/>
          </a:p>
          <a:p>
            <a:pPr indent="0" lvl="0" marL="0" rtl="0" algn="l">
              <a:spcBef>
                <a:spcPts val="1200"/>
              </a:spcBef>
              <a:spcAft>
                <a:spcPts val="1200"/>
              </a:spcAft>
              <a:buNone/>
            </a:pPr>
            <a:r>
              <a:rPr lang="en"/>
              <a:t>“</a:t>
            </a:r>
            <a:r>
              <a:rPr lang="en"/>
              <a:t>Sharpness is super interesting. It’s just that at some point, I realized it’s not useful.“</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608" name="Google Shape;608;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Sharpness, in addition to accelerating convergence, may or may not improve generalization when limited by samples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We can try to directly optimize for sharpness, though it’s unclear what we are actually optimizing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Sharpness can serve as a helpful mental model for algorithm design in components such as fine-tuning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7282B"/>
      </a:lt1>
      <a:dk2>
        <a:srgbClr val="27282B"/>
      </a:dk2>
      <a:lt2>
        <a:srgbClr val="ADADAD"/>
      </a:lt2>
      <a:accent1>
        <a:srgbClr val="009688"/>
      </a:accent1>
      <a:accent2>
        <a:srgbClr val="D883FF"/>
      </a:accent2>
      <a:accent3>
        <a:srgbClr val="EEFF41"/>
      </a:accent3>
      <a:accent4>
        <a:srgbClr val="FFAB40"/>
      </a:accent4>
      <a:accent5>
        <a:srgbClr val="7030A0"/>
      </a:accent5>
      <a:accent6>
        <a:srgbClr val="00FFFF"/>
      </a:accent6>
      <a:hlink>
        <a:srgbClr val="00FFFF"/>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